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 snapToObjects="1">
      <p:cViewPr>
        <p:scale>
          <a:sx n="76" d="100"/>
          <a:sy n="76" d="100"/>
        </p:scale>
        <p:origin x="2224" y="-2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2000" cy="1584000"/>
          </a:xfrm>
          <a:prstGeom prst="rect">
            <a:avLst/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4000" y="156000"/>
            <a:ext cx="7560000" cy="79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800" b="1" dirty="0" err="1">
                <a:solidFill>
                  <a:srgbClr val="FFFFFF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MonsoonWatch</a:t>
            </a:r>
            <a:endParaRPr sz="5800" b="1" dirty="0">
              <a:solidFill>
                <a:srgbClr val="FFFFFF"/>
              </a:solidFill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2000" y="846000"/>
            <a:ext cx="7740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dirty="0">
                <a:solidFill>
                  <a:srgbClr val="DBE7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ngsana New" panose="02020603050405020304" pitchFamily="18" charset="-34"/>
              </a:rPr>
              <a:t>Forecasting </a:t>
            </a:r>
            <a:r>
              <a:rPr sz="2100" b="0" dirty="0" err="1">
                <a:solidFill>
                  <a:srgbClr val="DBE7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ngsana New" panose="02020603050405020304" pitchFamily="18" charset="-34"/>
              </a:rPr>
              <a:t>diarrhoeal</a:t>
            </a:r>
            <a:r>
              <a:rPr sz="2100" b="0" dirty="0">
                <a:solidFill>
                  <a:srgbClr val="DBE7F5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ngsana New" panose="02020603050405020304" pitchFamily="18" charset="-34"/>
              </a:rPr>
              <a:t> disease in Nepal, 1–4 weeks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7740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Pratyush</a:t>
            </a:r>
            <a:r>
              <a:rPr sz="1300" b="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Amatya</a:t>
            </a:r>
            <a:r>
              <a:rPr sz="1300" b="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 ·  Macquarie University  ·  Pitch for the Planet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8000" y="216000"/>
            <a:ext cx="1872000" cy="342000"/>
          </a:xfrm>
          <a:prstGeom prst="roundRect">
            <a:avLst>
              <a:gd name="adj" fmla="val 21052"/>
            </a:avLst>
          </a:prstGeom>
          <a:solidFill>
            <a:srgbClr val="4C9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SDG 3 · Good health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8000" y="612000"/>
            <a:ext cx="1872000" cy="342000"/>
          </a:xfrm>
          <a:prstGeom prst="roundRect">
            <a:avLst>
              <a:gd name="adj" fmla="val 21052"/>
            </a:avLst>
          </a:prstGeom>
          <a:solidFill>
            <a:srgbClr val="26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SDG 6 · Clean water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88000" y="1008000"/>
            <a:ext cx="1872000" cy="342000"/>
          </a:xfrm>
          <a:prstGeom prst="roundRect">
            <a:avLst>
              <a:gd name="adj" fmla="val 21052"/>
            </a:avLst>
          </a:prstGeom>
          <a:solidFill>
            <a:srgbClr val="3F7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Arial"/>
              </a:rPr>
              <a:t>SDG 13 · Climate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764000"/>
            <a:ext cx="3156000" cy="2304000"/>
          </a:xfrm>
          <a:prstGeom prst="roundRect">
            <a:avLst>
              <a:gd name="adj" fmla="val 468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133" y="1823800"/>
            <a:ext cx="2796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dirty="0">
                <a:solidFill>
                  <a:srgbClr val="153E75"/>
                </a:solidFill>
                <a:latin typeface="Bell MT" panose="02020503060305020303" pitchFamily="18" charset="77"/>
                <a:cs typeface="Angsana New" panose="02020603050405020304" pitchFamily="18" charset="-34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133" y="2251267"/>
            <a:ext cx="2796000" cy="1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4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Every monsoon, floods make drinking water dirty in Nepal. Cases of </a:t>
            </a:r>
            <a:r>
              <a:rPr sz="1400" b="0" dirty="0" err="1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diarrhoeal</a:t>
            </a:r>
            <a:r>
              <a:rPr sz="14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 disease (acute gastroenteritis, AGE) shoot up, and young children suffer most.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400" b="1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A warning a few weeks early</a:t>
            </a:r>
            <a:r>
              <a:rPr sz="14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 would give health teams time to get ready.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8000" y="1764000"/>
            <a:ext cx="3156000" cy="2304000"/>
          </a:xfrm>
          <a:prstGeom prst="roundRect">
            <a:avLst>
              <a:gd name="adj" fmla="val 468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000" y="1818000"/>
            <a:ext cx="2796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dirty="0">
                <a:solidFill>
                  <a:srgbClr val="153E75"/>
                </a:solidFill>
                <a:latin typeface="Bell MT" panose="02020503060305020303" pitchFamily="18" charset="77"/>
                <a:cs typeface="Angsana New" panose="02020603050405020304" pitchFamily="18" charset="-34"/>
              </a:rP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8000" y="2268000"/>
            <a:ext cx="2976000" cy="1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 panose="020B0604020202020204" pitchFamily="34" charset="0"/>
              <a:buChar char="•"/>
            </a:pPr>
            <a:r>
              <a:rPr sz="1300" b="1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EWARS</a:t>
            </a: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, Nepal's warning system, counts cases every week.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It reports cases only after they happen. It does not forecast.</a:t>
            </a: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The weekly numbers are </a:t>
            </a:r>
            <a:r>
              <a:rPr lang="en-US" sz="130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stuck in PDFs</a:t>
            </a:r>
            <a:endParaRPr sz="1300" b="0" dirty="0">
              <a:solidFill>
                <a:srgbClr val="1A1A1A"/>
              </a:solidFill>
              <a:latin typeface="Bell MT" panose="02020503060305020303" pitchFamily="18" charset="77"/>
              <a:ea typeface="Baskerville" panose="02020502070401020303" pitchFamily="18" charset="0"/>
            </a:endParaRPr>
          </a:p>
          <a:p>
            <a:pPr marL="285750" indent="-285750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Rain is often blamed for outbreaks</a:t>
            </a:r>
            <a:r>
              <a:rPr lang="en-US" sz="130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 but d</a:t>
            </a: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  <a:ea typeface="Baskerville" panose="02020502070401020303" pitchFamily="18" charset="0"/>
              </a:rPr>
              <a:t>oes it help forecasting?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04000" y="1764000"/>
            <a:ext cx="3156000" cy="2304000"/>
          </a:xfrm>
          <a:prstGeom prst="roundRect">
            <a:avLst>
              <a:gd name="adj" fmla="val 468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7067" y="1818000"/>
            <a:ext cx="2796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dirty="0">
                <a:solidFill>
                  <a:srgbClr val="153E75"/>
                </a:solidFill>
                <a:latin typeface="Bell MT" panose="02020503060305020303" pitchFamily="18" charset="77"/>
                <a:cs typeface="Angsana New" panose="02020603050405020304" pitchFamily="18" charset="-34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7067" y="2223000"/>
            <a:ext cx="2796000" cy="1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AutoNum type="arabicPeriod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</a:rPr>
              <a:t>Turn 5 years of PDF reports into clean weekly data.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AutoNum type="arabicPeriod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</a:rPr>
              <a:t>Forecast national AGE cases 1–4 weeks ahead.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AutoNum type="arabicPeriod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</a:rPr>
              <a:t>Test whether rainfall makes forecasts better.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AutoNum type="arabicPeriod"/>
            </a:pPr>
            <a:r>
              <a:rPr sz="1300" b="0" dirty="0">
                <a:solidFill>
                  <a:srgbClr val="1A1A1A"/>
                </a:solidFill>
                <a:latin typeface="Bell MT" panose="02020503060305020303" pitchFamily="18" charset="77"/>
              </a:rPr>
              <a:t>Build a simple web tool that makes the forecast.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" y="4248000"/>
            <a:ext cx="9828000" cy="2016000"/>
          </a:xfrm>
          <a:prstGeom prst="roundRect">
            <a:avLst>
              <a:gd name="adj" fmla="val 535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2000" y="4340133"/>
            <a:ext cx="946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dirty="0">
                <a:solidFill>
                  <a:srgbClr val="153E75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Methodology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DC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dirty="0">
                <a:solidFill>
                  <a:srgbClr val="153E75"/>
                </a:solidFill>
                <a:latin typeface="Bell MT" panose="02020503060305020303" pitchFamily="18" charset="77"/>
              </a:rPr>
              <a:t>1. Collect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241 weekly EWARS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PDF reports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(2021–2025)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016000" y="5130000"/>
            <a:ext cx="180000" cy="216000"/>
          </a:xfrm>
          <a:prstGeom prst="rightArrow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23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DC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 dirty="0">
                <a:solidFill>
                  <a:srgbClr val="153E75"/>
                </a:solidFill>
                <a:latin typeface="Bell MT" panose="02020503060305020303" pitchFamily="18" charset="77"/>
              </a:rPr>
              <a:t>2. Extract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A program reads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the PDFs into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dirty="0">
                <a:solidFill>
                  <a:srgbClr val="1A1A1A"/>
                </a:solidFill>
                <a:latin typeface="Bell MT" panose="02020503060305020303" pitchFamily="18" charset="77"/>
              </a:rPr>
              <a:t>one table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636000" y="5130000"/>
            <a:ext cx="180000" cy="216000"/>
          </a:xfrm>
          <a:prstGeom prst="rightArrow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5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DC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53E75"/>
                </a:solidFill>
                <a:latin typeface="Bell MT" panose="02020503060305020303" pitchFamily="18" charset="77"/>
              </a:rPr>
              <a:t>3. Inputs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Recent cases, same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week last year,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time of year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256000" y="5130000"/>
            <a:ext cx="180000" cy="216000"/>
          </a:xfrm>
          <a:prstGeom prst="rightArrow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7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FD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53E75"/>
                </a:solidFill>
                <a:latin typeface="Bell MT" panose="02020503060305020303" pitchFamily="18" charset="77"/>
              </a:rPr>
              <a:t>4. Train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180 set-ups of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machine-learning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model types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76000" y="5130000"/>
            <a:ext cx="180000" cy="216000"/>
          </a:xfrm>
          <a:prstGeom prst="rightArrow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9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FD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53E75"/>
                </a:solidFill>
                <a:latin typeface="Bell MT" panose="02020503060305020303" pitchFamily="18" charset="77"/>
              </a:rPr>
              <a:t>5. Combine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Average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best 15–30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models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496000" y="5130000"/>
            <a:ext cx="180000" cy="216000"/>
          </a:xfrm>
          <a:prstGeom prst="rightArrow">
            <a:avLst/>
          </a:prstGeom>
          <a:solidFill>
            <a:srgbClr val="9AA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12000" y="4752000"/>
            <a:ext cx="1368000" cy="972000"/>
          </a:xfrm>
          <a:prstGeom prst="roundRect">
            <a:avLst>
              <a:gd name="adj" fmla="val 9259"/>
            </a:avLst>
          </a:prstGeom>
          <a:solidFill>
            <a:srgbClr val="FD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54000" rIns="54000" bIns="54000" rtlCol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53E75"/>
                </a:solidFill>
                <a:latin typeface="Bell MT" panose="02020503060305020303" pitchFamily="18" charset="77"/>
              </a:rPr>
              <a:t>6.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Forecast 2024–25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weeks the models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Bell MT" panose="02020503060305020303" pitchFamily="18" charset="77"/>
              </a:rPr>
              <a:t>never saw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000" y="5814000"/>
            <a:ext cx="94680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dirty="0">
                <a:solidFill>
                  <a:srgbClr val="55545A"/>
                </a:solidFill>
                <a:latin typeface="Bell MT" panose="02020503060305020303" pitchFamily="18" charset="77"/>
              </a:rPr>
              <a:t>Fair test: </a:t>
            </a:r>
            <a:r>
              <a:rPr sz="1200" b="0" dirty="0">
                <a:solidFill>
                  <a:srgbClr val="55545A"/>
                </a:solidFill>
                <a:latin typeface="Bell MT" panose="02020503060305020303" pitchFamily="18" charset="77"/>
              </a:rPr>
              <a:t>each forecast used only data available at that time, and the models were retrained every week. </a:t>
            </a:r>
            <a:r>
              <a:rPr sz="1200" b="1" dirty="0">
                <a:solidFill>
                  <a:srgbClr val="55545A"/>
                </a:solidFill>
                <a:latin typeface="Bell MT" panose="02020503060305020303" pitchFamily="18" charset="77"/>
              </a:rPr>
              <a:t>Rainfall </a:t>
            </a:r>
            <a:r>
              <a:rPr sz="1200" b="0" dirty="0">
                <a:solidFill>
                  <a:srgbClr val="55545A"/>
                </a:solidFill>
                <a:latin typeface="Bell MT" panose="02020503060305020303" pitchFamily="18" charset="77"/>
              </a:rPr>
              <a:t>(23 Kathmandu Valley gauges + NASA satellite for all of Nepal) was tested as an extra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000" y="6444000"/>
            <a:ext cx="9828000" cy="4608000"/>
          </a:xfrm>
          <a:prstGeom prst="roundRect">
            <a:avLst>
              <a:gd name="adj" fmla="val 2343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2000" y="6570000"/>
            <a:ext cx="946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dirty="0">
                <a:solidFill>
                  <a:srgbClr val="153E75"/>
                </a:solidFill>
                <a:latin typeface="Bell MT" panose="02020503060305020303" pitchFamily="18" charset="77"/>
              </a:rPr>
              <a:t>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00" y="6948000"/>
            <a:ext cx="4644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1 · Cases peak every monsoon (green bands)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000" y="7200000"/>
            <a:ext cx="4644000" cy="16380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pic>
        <p:nvPicPr>
          <p:cNvPr id="36" name="Picture 35" descr="p1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7236000"/>
            <a:ext cx="4572000" cy="1566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36000" y="6948000"/>
            <a:ext cx="4644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2 · Forecast vs real cases, 2 weeks ahead (2024–25)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6000" y="7200000"/>
            <a:ext cx="4644000" cy="16380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pic>
        <p:nvPicPr>
          <p:cNvPr id="39" name="Picture 38" descr="p2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00" y="7236000"/>
            <a:ext cx="4572000" cy="156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2000" y="8982000"/>
            <a:ext cx="4644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3 · Smaller miss than simple rules at every length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000" y="9234000"/>
            <a:ext cx="4644000" cy="16380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pic>
        <p:nvPicPr>
          <p:cNvPr id="42" name="Picture 41" descr="p3_vs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" y="9270000"/>
            <a:ext cx="4572000" cy="156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36000" y="8982000"/>
            <a:ext cx="4644000" cy="25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4 · Adding rainfall did not reduce the miss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36000" y="9234000"/>
            <a:ext cx="4644000" cy="1638000"/>
          </a:xfrm>
          <a:prstGeom prst="roundRect">
            <a:avLst>
              <a:gd name="adj" fmla="val 43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pic>
        <p:nvPicPr>
          <p:cNvPr id="45" name="Picture 44" descr="p4_rain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000" y="9270000"/>
            <a:ext cx="4572000" cy="156600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32000" y="11232000"/>
            <a:ext cx="4824000" cy="2304000"/>
          </a:xfrm>
          <a:prstGeom prst="roundRect">
            <a:avLst>
              <a:gd name="adj" fmla="val 468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12000" y="11358000"/>
            <a:ext cx="4464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Bell MT" panose="02020503060305020303" pitchFamily="18" charset="77"/>
              </a:rPr>
              <a:t>Discussion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000" y="11736000"/>
            <a:ext cx="4464000" cy="1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Past cases and the season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drive the forecast.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Rainfall did not help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, even for all of Nepal. The time of year already covers the monsoon.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The model type mattered little.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Averaging many models and weekly retraining mattered more.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Limits: 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more clinics reporting made counts rise 4×; big peaks are under-forecast (829 vs ~700).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36000" y="11232000"/>
            <a:ext cx="4824000" cy="2304000"/>
          </a:xfrm>
          <a:prstGeom prst="roundRect">
            <a:avLst>
              <a:gd name="adj" fmla="val 4687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16000" y="11358000"/>
            <a:ext cx="4464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53E75"/>
                </a:solidFill>
                <a:latin typeface="Bell MT" panose="02020503060305020303" pitchFamily="18" charset="77"/>
              </a:rPr>
              <a:t>Future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16000" y="11736000"/>
            <a:ext cx="4464000" cy="16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Forecast by district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to show where help is needed most.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Adjust for new health centres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joining EWARS reporting.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Predict big peaks better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and add clear alert levels.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Update automatically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when new EWARS reports come out.</a:t>
            </a:r>
          </a:p>
          <a:p>
            <a:pPr marL="198000" indent="-198000" algn="l">
              <a:lnSpc>
                <a:spcPct val="100000"/>
              </a:lnSpc>
              <a:spcAft>
                <a:spcPts val="500"/>
              </a:spcAft>
              <a:buClr>
                <a:srgbClr val="153E75"/>
              </a:buClr>
              <a:buFont typeface="Arial"/>
              <a:buChar char="•"/>
            </a:pPr>
            <a:r>
              <a:rPr sz="1300" b="1">
                <a:solidFill>
                  <a:srgbClr val="1A1A1A"/>
                </a:solidFill>
                <a:latin typeface="Bell MT" panose="02020503060305020303" pitchFamily="18" charset="77"/>
              </a:rPr>
              <a:t>Re-test rainfall</a:t>
            </a:r>
            <a:r>
              <a:rPr sz="1300" b="0">
                <a:solidFill>
                  <a:srgbClr val="1A1A1A"/>
                </a:solidFill>
                <a:latin typeface="Bell MT" panose="02020503060305020303" pitchFamily="18" charset="77"/>
              </a:rPr>
              <a:t> using district-level cases.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4000" y="13698000"/>
            <a:ext cx="9828000" cy="1080000"/>
          </a:xfrm>
          <a:prstGeom prst="roundRect">
            <a:avLst>
              <a:gd name="adj" fmla="val 10000"/>
            </a:avLst>
          </a:prstGeom>
          <a:solidFill>
            <a:srgbClr val="153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12000" y="13824000"/>
            <a:ext cx="54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 dirty="0">
                <a:solidFill>
                  <a:srgbClr val="FFCF70"/>
                </a:solidFill>
                <a:latin typeface="Arial"/>
              </a:rPr>
              <a:t>Conclusion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MonsoonWatch</a:t>
            </a: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warns of </a:t>
            </a:r>
            <a:r>
              <a:rPr sz="1400" b="0" dirty="0" err="1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diarrhoeal</a:t>
            </a: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 disease in Nepal 1–4 weeks ahead, using only data Nepal already collects. It beats simple rules every time, and needs no weather data.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92000" y="13824000"/>
            <a:ext cx="1296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dirty="0">
                <a:solidFill>
                  <a:srgbClr val="FFB38A"/>
                </a:solidFill>
                <a:latin typeface="Arial"/>
              </a:rPr>
              <a:t>12–14%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typical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forecast error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8000" y="13824000"/>
            <a:ext cx="1296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dirty="0">
                <a:solidFill>
                  <a:srgbClr val="8FE3C1"/>
                </a:solidFill>
                <a:latin typeface="Arial"/>
              </a:rPr>
              <a:t>6–18%</a:t>
            </a:r>
          </a:p>
          <a:p>
            <a:pPr algn="ctr"/>
            <a:r>
              <a:rPr sz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better than</a:t>
            </a:r>
          </a:p>
          <a:p>
            <a:pPr algn="ctr"/>
            <a:r>
              <a:rPr sz="120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simple rules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12000" y="13806000"/>
            <a:ext cx="1296000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dirty="0">
                <a:solidFill>
                  <a:srgbClr val="9CC7FF"/>
                </a:solidFill>
                <a:latin typeface="Arial"/>
              </a:rPr>
              <a:t>1–4 </a:t>
            </a:r>
            <a:r>
              <a:rPr sz="2400" b="1" dirty="0" err="1">
                <a:solidFill>
                  <a:srgbClr val="9CC7FF"/>
                </a:solidFill>
                <a:latin typeface="Arial"/>
              </a:rPr>
              <a:t>wks</a:t>
            </a:r>
            <a:endParaRPr sz="2400" b="1" dirty="0">
              <a:solidFill>
                <a:srgbClr val="9CC7FF"/>
              </a:solidFill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of early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dirty="0">
                <a:solidFill>
                  <a:srgbClr val="FFFFFF"/>
                </a:solidFill>
                <a:latin typeface="Baskerville" panose="02020502070401020303" pitchFamily="18" charset="0"/>
                <a:ea typeface="Baskerville" panose="02020502070401020303" pitchFamily="18" charset="0"/>
              </a:rPr>
              <a:t>warning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2000" y="14850000"/>
            <a:ext cx="9828000" cy="2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1" dirty="0">
                <a:latin typeface="Arial"/>
              </a:rPr>
              <a:t>Data: EDCD EWARS weekly bulletins 2021–2025  ·  DHM rain gauges  ·  NASA POWER satellite.   </a:t>
            </a:r>
            <a:r>
              <a:rPr lang="en-US" sz="950" b="0" i="1" dirty="0">
                <a:latin typeface="Arial"/>
              </a:rPr>
              <a:t>Aim to </a:t>
            </a:r>
            <a:r>
              <a:rPr lang="en-US" sz="950" b="0" i="1">
                <a:latin typeface="Arial"/>
              </a:rPr>
              <a:t>build an </a:t>
            </a:r>
            <a:r>
              <a:rPr lang="en-US" sz="950" i="1">
                <a:latin typeface="Arial"/>
              </a:rPr>
              <a:t>i</a:t>
            </a:r>
            <a:r>
              <a:rPr sz="950" b="0" i="1">
                <a:latin typeface="Arial"/>
              </a:rPr>
              <a:t>nteractive </a:t>
            </a:r>
            <a:r>
              <a:rPr sz="950" b="0" i="1" dirty="0">
                <a:latin typeface="Arial"/>
              </a:rPr>
              <a:t>forecast tool: </a:t>
            </a:r>
            <a:r>
              <a:rPr sz="950" b="0" i="1" dirty="0" err="1">
                <a:latin typeface="Arial"/>
              </a:rPr>
              <a:t>MonsoonWatch</a:t>
            </a:r>
            <a:r>
              <a:rPr sz="950" b="0" i="1" dirty="0">
                <a:latin typeface="Arial"/>
              </a:rPr>
              <a:t> web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502</Words>
  <Application>Microsoft Macintosh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APPLE CHANCERY</vt:lpstr>
      <vt:lpstr>Arial</vt:lpstr>
      <vt:lpstr>Baskerville</vt:lpstr>
      <vt:lpstr>Bell MT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pratyushwrites@gmail.com</cp:lastModifiedBy>
  <cp:revision>3</cp:revision>
  <dcterms:created xsi:type="dcterms:W3CDTF">2013-01-27T09:14:16Z</dcterms:created>
  <dcterms:modified xsi:type="dcterms:W3CDTF">2026-09-16T00:42:52Z</dcterms:modified>
  <cp:category/>
</cp:coreProperties>
</file>