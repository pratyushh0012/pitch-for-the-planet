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8211E"/>
                </a:solidFill>
              </a:rPr>
              <a:t>Dengue cases reported each week by Nepal's hospitals</a:t>
            </a:r>
          </a:p>
        </c:rich>
      </c:tx>
      <c:layout/>
      <c:overlay val="0"/>
    </c:title>
    <c:autoTitleDeleted val="0"/>
    <c:plotArea>
      <c:lineChart>
        <c:grouping val="standard"/>
        <c:varyColors val="0"/>
        <c:ser>
          <c:idx val="0"/>
          <c:order val="0"/>
          <c:tx>
            <c:strRef>
              <c:f>Sheet1!$B$1</c:f>
              <c:strCache>
                <c:ptCount val="1"/>
                <c:pt idx="0">
                  <c:v>Dengue cases each week</c:v>
                </c:pt>
              </c:strCache>
            </c:strRef>
          </c:tx>
          <c:spPr>
            <a:ln w="28575">
              <a:solidFill>
                <a:srgbClr val="2A78D6"/>
              </a:solidFill>
            </a:ln>
          </c:spPr>
          <c:marker>
            <c:symbol val="none"/>
          </c:marker>
          <c:cat>
            <c:strRef>
              <c:f>Sheet1!$A$2:$A$418</c:f>
              <c:strCache>
                <c:ptCount val="417"/>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2018</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2019</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2020</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2021</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2022</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2023</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2024</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2025</c:v>
                </c:pt>
                <c:pt idx="391">
                  <c:v/>
                </c:pt>
                <c:pt idx="392">
                  <c:v/>
                </c:pt>
                <c:pt idx="393">
                  <c:v/>
                </c:pt>
                <c:pt idx="394">
                  <c:v/>
                </c:pt>
                <c:pt idx="395">
                  <c:v/>
                </c:pt>
                <c:pt idx="396">
                  <c:v/>
                </c:pt>
                <c:pt idx="397">
                  <c:v/>
                </c:pt>
                <c:pt idx="398">
                  <c:v/>
                </c:pt>
                <c:pt idx="399">
                  <c:v/>
                </c:pt>
                <c:pt idx="400">
                  <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strCache>
            </c:strRef>
          </c:cat>
          <c:val>
            <c:numRef>
              <c:f>Sheet1!$B$2:$B$418</c:f>
              <c:numCache>
                <c:formatCode>General</c:formatCode>
                <c:ptCount val="417"/>
                <c:pt idx="1">
                  <c:v>2.0</c:v>
                </c:pt>
                <c:pt idx="2">
                  <c:v>0.0</c:v>
                </c:pt>
                <c:pt idx="3">
                  <c:v>1.0</c:v>
                </c:pt>
                <c:pt idx="4">
                  <c:v>0.0</c:v>
                </c:pt>
                <c:pt idx="5">
                  <c:v>1.0</c:v>
                </c:pt>
                <c:pt idx="6">
                  <c:v>1.0</c:v>
                </c:pt>
                <c:pt idx="7">
                  <c:v>1.0</c:v>
                </c:pt>
                <c:pt idx="8">
                  <c:v>0.0</c:v>
                </c:pt>
                <c:pt idx="9">
                  <c:v>0.0</c:v>
                </c:pt>
                <c:pt idx="10">
                  <c:v>1.0</c:v>
                </c:pt>
                <c:pt idx="14">
                  <c:v>0.0</c:v>
                </c:pt>
                <c:pt idx="15">
                  <c:v>0.0</c:v>
                </c:pt>
                <c:pt idx="16">
                  <c:v>0.0</c:v>
                </c:pt>
                <c:pt idx="17">
                  <c:v>1.0</c:v>
                </c:pt>
                <c:pt idx="18">
                  <c:v>0.0</c:v>
                </c:pt>
                <c:pt idx="19">
                  <c:v>0.0</c:v>
                </c:pt>
                <c:pt idx="20">
                  <c:v>0.0</c:v>
                </c:pt>
                <c:pt idx="21">
                  <c:v>0.0</c:v>
                </c:pt>
                <c:pt idx="22">
                  <c:v>0.0</c:v>
                </c:pt>
                <c:pt idx="23">
                  <c:v>3.0</c:v>
                </c:pt>
                <c:pt idx="24">
                  <c:v>2.0</c:v>
                </c:pt>
                <c:pt idx="25">
                  <c:v>2.0</c:v>
                </c:pt>
                <c:pt idx="26">
                  <c:v>5.0</c:v>
                </c:pt>
                <c:pt idx="27">
                  <c:v>4.0</c:v>
                </c:pt>
                <c:pt idx="28">
                  <c:v>0.0</c:v>
                </c:pt>
                <c:pt idx="29">
                  <c:v>6.0</c:v>
                </c:pt>
                <c:pt idx="30">
                  <c:v>4.0</c:v>
                </c:pt>
                <c:pt idx="31">
                  <c:v>6.0</c:v>
                </c:pt>
                <c:pt idx="32">
                  <c:v>6.0</c:v>
                </c:pt>
                <c:pt idx="33">
                  <c:v>7.0</c:v>
                </c:pt>
                <c:pt idx="34">
                  <c:v>11.0</c:v>
                </c:pt>
                <c:pt idx="35">
                  <c:v>6.0</c:v>
                </c:pt>
                <c:pt idx="38">
                  <c:v>4.0</c:v>
                </c:pt>
                <c:pt idx="39">
                  <c:v>5.0</c:v>
                </c:pt>
                <c:pt idx="40">
                  <c:v>3.0</c:v>
                </c:pt>
                <c:pt idx="41">
                  <c:v>0.0</c:v>
                </c:pt>
                <c:pt idx="42">
                  <c:v>13.0</c:v>
                </c:pt>
                <c:pt idx="43">
                  <c:v>10.0</c:v>
                </c:pt>
                <c:pt idx="44">
                  <c:v>7.0</c:v>
                </c:pt>
                <c:pt idx="45">
                  <c:v>13.0</c:v>
                </c:pt>
                <c:pt idx="46">
                  <c:v>4.0</c:v>
                </c:pt>
                <c:pt idx="47">
                  <c:v>14.0</c:v>
                </c:pt>
                <c:pt idx="48">
                  <c:v>9.0</c:v>
                </c:pt>
                <c:pt idx="49">
                  <c:v>3.0</c:v>
                </c:pt>
                <c:pt idx="50">
                  <c:v>0.0</c:v>
                </c:pt>
                <c:pt idx="51">
                  <c:v>0.0</c:v>
                </c:pt>
                <c:pt idx="52">
                  <c:v>0.0</c:v>
                </c:pt>
                <c:pt idx="53">
                  <c:v>0.0</c:v>
                </c:pt>
                <c:pt idx="54">
                  <c:v>2.0</c:v>
                </c:pt>
                <c:pt idx="55">
                  <c:v>1.0</c:v>
                </c:pt>
                <c:pt idx="56">
                  <c:v>0.0</c:v>
                </c:pt>
                <c:pt idx="57">
                  <c:v>0.0</c:v>
                </c:pt>
                <c:pt idx="58">
                  <c:v>0.0</c:v>
                </c:pt>
                <c:pt idx="59">
                  <c:v>0.0</c:v>
                </c:pt>
                <c:pt idx="60">
                  <c:v>0.0</c:v>
                </c:pt>
                <c:pt idx="61">
                  <c:v>2.0</c:v>
                </c:pt>
                <c:pt idx="62">
                  <c:v>0.0</c:v>
                </c:pt>
                <c:pt idx="63">
                  <c:v>0.0</c:v>
                </c:pt>
                <c:pt idx="64">
                  <c:v>0.0</c:v>
                </c:pt>
                <c:pt idx="65">
                  <c:v>1.0</c:v>
                </c:pt>
                <c:pt idx="66">
                  <c:v>0.0</c:v>
                </c:pt>
                <c:pt idx="67">
                  <c:v>1.0</c:v>
                </c:pt>
                <c:pt idx="68">
                  <c:v>1.0</c:v>
                </c:pt>
                <c:pt idx="69">
                  <c:v>1.0</c:v>
                </c:pt>
                <c:pt idx="70">
                  <c:v>2.0</c:v>
                </c:pt>
                <c:pt idx="71">
                  <c:v>1.0</c:v>
                </c:pt>
                <c:pt idx="72">
                  <c:v>9.0</c:v>
                </c:pt>
                <c:pt idx="73">
                  <c:v>16.0</c:v>
                </c:pt>
                <c:pt idx="74">
                  <c:v>22.0</c:v>
                </c:pt>
                <c:pt idx="75">
                  <c:v>12.0</c:v>
                </c:pt>
                <c:pt idx="76">
                  <c:v>22.0</c:v>
                </c:pt>
                <c:pt idx="77">
                  <c:v>52.0</c:v>
                </c:pt>
                <c:pt idx="78">
                  <c:v>42.0</c:v>
                </c:pt>
                <c:pt idx="79">
                  <c:v>37.0</c:v>
                </c:pt>
                <c:pt idx="80">
                  <c:v>61.0</c:v>
                </c:pt>
                <c:pt idx="81">
                  <c:v>78.0</c:v>
                </c:pt>
                <c:pt idx="82">
                  <c:v>63.0</c:v>
                </c:pt>
                <c:pt idx="83">
                  <c:v>142.0</c:v>
                </c:pt>
                <c:pt idx="84">
                  <c:v>222.0</c:v>
                </c:pt>
                <c:pt idx="85">
                  <c:v>249.0</c:v>
                </c:pt>
                <c:pt idx="86">
                  <c:v>355.0</c:v>
                </c:pt>
                <c:pt idx="87">
                  <c:v>912.0</c:v>
                </c:pt>
                <c:pt idx="88">
                  <c:v>1468.0</c:v>
                </c:pt>
                <c:pt idx="89">
                  <c:v>1531.0</c:v>
                </c:pt>
                <c:pt idx="90">
                  <c:v>1065.0</c:v>
                </c:pt>
                <c:pt idx="91">
                  <c:v>844.0</c:v>
                </c:pt>
                <c:pt idx="92">
                  <c:v>542.0</c:v>
                </c:pt>
                <c:pt idx="93">
                  <c:v>740.0</c:v>
                </c:pt>
                <c:pt idx="94">
                  <c:v>404.0</c:v>
                </c:pt>
                <c:pt idx="95">
                  <c:v>372.0</c:v>
                </c:pt>
                <c:pt idx="96">
                  <c:v>339.0</c:v>
                </c:pt>
                <c:pt idx="97">
                  <c:v>237.0</c:v>
                </c:pt>
                <c:pt idx="98">
                  <c:v>147.0</c:v>
                </c:pt>
                <c:pt idx="99">
                  <c:v>105.0</c:v>
                </c:pt>
                <c:pt idx="100">
                  <c:v>37.0</c:v>
                </c:pt>
                <c:pt idx="101">
                  <c:v>27.0</c:v>
                </c:pt>
                <c:pt idx="102">
                  <c:v>8.0</c:v>
                </c:pt>
                <c:pt idx="103">
                  <c:v>5.0</c:v>
                </c:pt>
                <c:pt idx="104">
                  <c:v>6.0</c:v>
                </c:pt>
                <c:pt idx="105">
                  <c:v>2.0</c:v>
                </c:pt>
                <c:pt idx="106">
                  <c:v>2.0</c:v>
                </c:pt>
                <c:pt idx="107">
                  <c:v>0.0</c:v>
                </c:pt>
                <c:pt idx="108">
                  <c:v>5.0</c:v>
                </c:pt>
                <c:pt idx="109">
                  <c:v>4.0</c:v>
                </c:pt>
                <c:pt idx="110">
                  <c:v>4.0</c:v>
                </c:pt>
                <c:pt idx="111">
                  <c:v>3.0</c:v>
                </c:pt>
                <c:pt idx="112">
                  <c:v>4.0</c:v>
                </c:pt>
                <c:pt idx="113">
                  <c:v>4.0</c:v>
                </c:pt>
                <c:pt idx="114">
                  <c:v>0.0</c:v>
                </c:pt>
                <c:pt idx="115">
                  <c:v>3.0</c:v>
                </c:pt>
                <c:pt idx="116">
                  <c:v>3.0</c:v>
                </c:pt>
                <c:pt idx="117">
                  <c:v>1.0</c:v>
                </c:pt>
                <c:pt idx="118">
                  <c:v>1.0</c:v>
                </c:pt>
                <c:pt idx="119">
                  <c:v>0.0</c:v>
                </c:pt>
                <c:pt idx="120">
                  <c:v>2.0</c:v>
                </c:pt>
                <c:pt idx="121">
                  <c:v>2.0</c:v>
                </c:pt>
                <c:pt idx="122">
                  <c:v>9.0</c:v>
                </c:pt>
                <c:pt idx="123">
                  <c:v>3.0</c:v>
                </c:pt>
                <c:pt idx="124">
                  <c:v>3.0</c:v>
                </c:pt>
                <c:pt idx="125">
                  <c:v>13.0</c:v>
                </c:pt>
                <c:pt idx="126">
                  <c:v>6.0</c:v>
                </c:pt>
                <c:pt idx="127">
                  <c:v>5.0</c:v>
                </c:pt>
                <c:pt idx="128">
                  <c:v>5.0</c:v>
                </c:pt>
                <c:pt idx="129">
                  <c:v>2.0</c:v>
                </c:pt>
                <c:pt idx="130">
                  <c:v>7.0</c:v>
                </c:pt>
                <c:pt idx="131">
                  <c:v>7.0</c:v>
                </c:pt>
                <c:pt idx="132">
                  <c:v>8.0</c:v>
                </c:pt>
                <c:pt idx="133">
                  <c:v>14.0</c:v>
                </c:pt>
                <c:pt idx="134">
                  <c:v>21.0</c:v>
                </c:pt>
                <c:pt idx="135">
                  <c:v>9.0</c:v>
                </c:pt>
                <c:pt idx="136">
                  <c:v>15.0</c:v>
                </c:pt>
                <c:pt idx="137">
                  <c:v>27.0</c:v>
                </c:pt>
                <c:pt idx="138">
                  <c:v>27.0</c:v>
                </c:pt>
                <c:pt idx="139">
                  <c:v>23.0</c:v>
                </c:pt>
                <c:pt idx="140">
                  <c:v>20.0</c:v>
                </c:pt>
                <c:pt idx="141">
                  <c:v>29.0</c:v>
                </c:pt>
                <c:pt idx="142">
                  <c:v>10.0</c:v>
                </c:pt>
                <c:pt idx="143">
                  <c:v>15.0</c:v>
                </c:pt>
                <c:pt idx="144">
                  <c:v>19.0</c:v>
                </c:pt>
                <c:pt idx="145">
                  <c:v>16.0</c:v>
                </c:pt>
                <c:pt idx="146">
                  <c:v>13.0</c:v>
                </c:pt>
                <c:pt idx="147">
                  <c:v>13.0</c:v>
                </c:pt>
                <c:pt idx="148">
                  <c:v>11.0</c:v>
                </c:pt>
                <c:pt idx="149">
                  <c:v>10.0</c:v>
                </c:pt>
                <c:pt idx="150">
                  <c:v>8.0</c:v>
                </c:pt>
                <c:pt idx="151">
                  <c:v>2.0</c:v>
                </c:pt>
                <c:pt idx="152">
                  <c:v>2.0</c:v>
                </c:pt>
                <c:pt idx="153">
                  <c:v>5.0</c:v>
                </c:pt>
                <c:pt idx="154">
                  <c:v>1.0</c:v>
                </c:pt>
                <c:pt idx="155">
                  <c:v>2.0</c:v>
                </c:pt>
                <c:pt idx="156">
                  <c:v>0.0</c:v>
                </c:pt>
                <c:pt idx="157">
                  <c:v>1.0</c:v>
                </c:pt>
                <c:pt idx="158">
                  <c:v>2.0</c:v>
                </c:pt>
                <c:pt idx="159">
                  <c:v>0.0</c:v>
                </c:pt>
                <c:pt idx="160">
                  <c:v>0.0</c:v>
                </c:pt>
                <c:pt idx="161">
                  <c:v>2.0</c:v>
                </c:pt>
                <c:pt idx="162">
                  <c:v>4.0</c:v>
                </c:pt>
                <c:pt idx="163">
                  <c:v>1.0</c:v>
                </c:pt>
                <c:pt idx="164">
                  <c:v>3.0</c:v>
                </c:pt>
                <c:pt idx="165">
                  <c:v>5.0</c:v>
                </c:pt>
                <c:pt idx="166">
                  <c:v>0.0</c:v>
                </c:pt>
                <c:pt idx="167">
                  <c:v>1.0</c:v>
                </c:pt>
                <c:pt idx="168">
                  <c:v>1.0</c:v>
                </c:pt>
                <c:pt idx="169">
                  <c:v>3.0</c:v>
                </c:pt>
                <c:pt idx="170">
                  <c:v>1.0</c:v>
                </c:pt>
                <c:pt idx="171">
                  <c:v>4.0</c:v>
                </c:pt>
                <c:pt idx="172">
                  <c:v>5.0</c:v>
                </c:pt>
                <c:pt idx="173">
                  <c:v>3.0</c:v>
                </c:pt>
                <c:pt idx="174">
                  <c:v>0.0</c:v>
                </c:pt>
                <c:pt idx="175">
                  <c:v>0.0</c:v>
                </c:pt>
                <c:pt idx="176">
                  <c:v>0.0</c:v>
                </c:pt>
                <c:pt idx="177">
                  <c:v>4.0</c:v>
                </c:pt>
                <c:pt idx="178">
                  <c:v>0.0</c:v>
                </c:pt>
                <c:pt idx="179">
                  <c:v>1.0</c:v>
                </c:pt>
                <c:pt idx="180">
                  <c:v>1.0</c:v>
                </c:pt>
                <c:pt idx="181">
                  <c:v>1.0</c:v>
                </c:pt>
                <c:pt idx="182">
                  <c:v>7.0</c:v>
                </c:pt>
                <c:pt idx="183">
                  <c:v>11.0</c:v>
                </c:pt>
                <c:pt idx="184">
                  <c:v>5.0</c:v>
                </c:pt>
                <c:pt idx="185">
                  <c:v>4.0</c:v>
                </c:pt>
                <c:pt idx="186">
                  <c:v>15.0</c:v>
                </c:pt>
                <c:pt idx="187">
                  <c:v>12.0</c:v>
                </c:pt>
                <c:pt idx="188">
                  <c:v>8.0</c:v>
                </c:pt>
                <c:pt idx="189">
                  <c:v>6.0</c:v>
                </c:pt>
                <c:pt idx="190">
                  <c:v>9.0</c:v>
                </c:pt>
                <c:pt idx="191">
                  <c:v>10.0</c:v>
                </c:pt>
                <c:pt idx="192">
                  <c:v>19.0</c:v>
                </c:pt>
                <c:pt idx="193">
                  <c:v>16.0</c:v>
                </c:pt>
                <c:pt idx="194">
                  <c:v>24.0</c:v>
                </c:pt>
                <c:pt idx="195">
                  <c:v>12.0</c:v>
                </c:pt>
                <c:pt idx="196">
                  <c:v>8.0</c:v>
                </c:pt>
                <c:pt idx="197">
                  <c:v>19.0</c:v>
                </c:pt>
                <c:pt idx="198">
                  <c:v>21.0</c:v>
                </c:pt>
                <c:pt idx="199">
                  <c:v>18.0</c:v>
                </c:pt>
                <c:pt idx="200">
                  <c:v>20.0</c:v>
                </c:pt>
                <c:pt idx="201">
                  <c:v>18.0</c:v>
                </c:pt>
                <c:pt idx="202">
                  <c:v>15.0</c:v>
                </c:pt>
                <c:pt idx="203">
                  <c:v>4.0</c:v>
                </c:pt>
                <c:pt idx="204">
                  <c:v>4.0</c:v>
                </c:pt>
                <c:pt idx="205">
                  <c:v>6.0</c:v>
                </c:pt>
                <c:pt idx="206">
                  <c:v>4.0</c:v>
                </c:pt>
                <c:pt idx="207">
                  <c:v>2.0</c:v>
                </c:pt>
                <c:pt idx="208">
                  <c:v>4.0</c:v>
                </c:pt>
                <c:pt idx="209">
                  <c:v>5.0</c:v>
                </c:pt>
                <c:pt idx="210">
                  <c:v>2.0</c:v>
                </c:pt>
                <c:pt idx="211">
                  <c:v>2.0</c:v>
                </c:pt>
                <c:pt idx="212">
                  <c:v>1.0</c:v>
                </c:pt>
                <c:pt idx="213">
                  <c:v>0.0</c:v>
                </c:pt>
                <c:pt idx="214">
                  <c:v>0.0</c:v>
                </c:pt>
                <c:pt idx="215">
                  <c:v>0.0</c:v>
                </c:pt>
                <c:pt idx="216">
                  <c:v>0.0</c:v>
                </c:pt>
                <c:pt idx="217">
                  <c:v>1.0</c:v>
                </c:pt>
                <c:pt idx="218">
                  <c:v>2.0</c:v>
                </c:pt>
                <c:pt idx="219">
                  <c:v>1.0</c:v>
                </c:pt>
                <c:pt idx="220">
                  <c:v>8.0</c:v>
                </c:pt>
                <c:pt idx="221">
                  <c:v>2.0</c:v>
                </c:pt>
                <c:pt idx="222">
                  <c:v>2.0</c:v>
                </c:pt>
                <c:pt idx="223">
                  <c:v>5.0</c:v>
                </c:pt>
                <c:pt idx="224">
                  <c:v>3.0</c:v>
                </c:pt>
                <c:pt idx="225">
                  <c:v>5.0</c:v>
                </c:pt>
                <c:pt idx="226">
                  <c:v>5.0</c:v>
                </c:pt>
                <c:pt idx="227">
                  <c:v>4.0</c:v>
                </c:pt>
                <c:pt idx="228">
                  <c:v>3.0</c:v>
                </c:pt>
                <c:pt idx="229">
                  <c:v>3.0</c:v>
                </c:pt>
                <c:pt idx="230">
                  <c:v>6.0</c:v>
                </c:pt>
                <c:pt idx="231">
                  <c:v>5.0</c:v>
                </c:pt>
                <c:pt idx="232">
                  <c:v>21.0</c:v>
                </c:pt>
                <c:pt idx="233">
                  <c:v>31.0</c:v>
                </c:pt>
                <c:pt idx="234">
                  <c:v>24.0</c:v>
                </c:pt>
                <c:pt idx="235">
                  <c:v>58.0</c:v>
                </c:pt>
                <c:pt idx="236">
                  <c:v>64.0</c:v>
                </c:pt>
                <c:pt idx="237">
                  <c:v>109.0</c:v>
                </c:pt>
                <c:pt idx="238">
                  <c:v>147.0</c:v>
                </c:pt>
                <c:pt idx="239">
                  <c:v>168.0</c:v>
                </c:pt>
                <c:pt idx="240">
                  <c:v>295.0</c:v>
                </c:pt>
                <c:pt idx="241">
                  <c:v>567.0</c:v>
                </c:pt>
                <c:pt idx="242">
                  <c:v>815.0</c:v>
                </c:pt>
                <c:pt idx="243">
                  <c:v>1371.0</c:v>
                </c:pt>
                <c:pt idx="244">
                  <c:v>2082.0</c:v>
                </c:pt>
                <c:pt idx="245">
                  <c:v>2929.0</c:v>
                </c:pt>
                <c:pt idx="246">
                  <c:v>2639.0</c:v>
                </c:pt>
                <c:pt idx="247">
                  <c:v>1769.0</c:v>
                </c:pt>
                <c:pt idx="248">
                  <c:v>1882.0</c:v>
                </c:pt>
                <c:pt idx="249">
                  <c:v>2140.0</c:v>
                </c:pt>
                <c:pt idx="250">
                  <c:v>1585.0</c:v>
                </c:pt>
                <c:pt idx="251">
                  <c:v>986.0</c:v>
                </c:pt>
                <c:pt idx="252">
                  <c:v>996.0</c:v>
                </c:pt>
                <c:pt idx="253">
                  <c:v>768.0</c:v>
                </c:pt>
                <c:pt idx="254">
                  <c:v>464.0</c:v>
                </c:pt>
                <c:pt idx="255">
                  <c:v>287.0</c:v>
                </c:pt>
                <c:pt idx="256">
                  <c:v>204.0</c:v>
                </c:pt>
                <c:pt idx="257">
                  <c:v>162.0</c:v>
                </c:pt>
                <c:pt idx="258">
                  <c:v>86.0</c:v>
                </c:pt>
                <c:pt idx="259">
                  <c:v>80.0</c:v>
                </c:pt>
                <c:pt idx="260">
                  <c:v>71.0</c:v>
                </c:pt>
                <c:pt idx="261">
                  <c:v>48.0</c:v>
                </c:pt>
                <c:pt idx="262">
                  <c:v>24.0</c:v>
                </c:pt>
                <c:pt idx="263">
                  <c:v>21.0</c:v>
                </c:pt>
                <c:pt idx="264">
                  <c:v>24.0</c:v>
                </c:pt>
                <c:pt idx="265">
                  <c:v>21.0</c:v>
                </c:pt>
                <c:pt idx="266">
                  <c:v>16.0</c:v>
                </c:pt>
                <c:pt idx="267">
                  <c:v>33.0</c:v>
                </c:pt>
                <c:pt idx="268">
                  <c:v>37.0</c:v>
                </c:pt>
                <c:pt idx="269">
                  <c:v>39.0</c:v>
                </c:pt>
                <c:pt idx="270">
                  <c:v>61.0</c:v>
                </c:pt>
                <c:pt idx="271">
                  <c:v>44.0</c:v>
                </c:pt>
                <c:pt idx="272">
                  <c:v>31.0</c:v>
                </c:pt>
                <c:pt idx="273">
                  <c:v>51.0</c:v>
                </c:pt>
                <c:pt idx="274">
                  <c:v>29.0</c:v>
                </c:pt>
                <c:pt idx="275">
                  <c:v>20.0</c:v>
                </c:pt>
                <c:pt idx="276">
                  <c:v>31.0</c:v>
                </c:pt>
                <c:pt idx="277">
                  <c:v>35.0</c:v>
                </c:pt>
                <c:pt idx="278">
                  <c:v>21.0</c:v>
                </c:pt>
                <c:pt idx="279">
                  <c:v>31.0</c:v>
                </c:pt>
                <c:pt idx="280">
                  <c:v>33.0</c:v>
                </c:pt>
                <c:pt idx="281">
                  <c:v>23.0</c:v>
                </c:pt>
                <c:pt idx="282">
                  <c:v>18.0</c:v>
                </c:pt>
                <c:pt idx="283">
                  <c:v>36.0</c:v>
                </c:pt>
                <c:pt idx="284">
                  <c:v>61.0</c:v>
                </c:pt>
                <c:pt idx="285">
                  <c:v>125.0</c:v>
                </c:pt>
                <c:pt idx="286">
                  <c:v>122.0</c:v>
                </c:pt>
                <c:pt idx="287">
                  <c:v>202.0</c:v>
                </c:pt>
                <c:pt idx="288">
                  <c:v>275.0</c:v>
                </c:pt>
                <c:pt idx="289">
                  <c:v>340.0</c:v>
                </c:pt>
                <c:pt idx="290">
                  <c:v>673.0</c:v>
                </c:pt>
                <c:pt idx="291">
                  <c:v>876.0</c:v>
                </c:pt>
                <c:pt idx="292">
                  <c:v>983.0</c:v>
                </c:pt>
                <c:pt idx="293">
                  <c:v>1114.0</c:v>
                </c:pt>
                <c:pt idx="294">
                  <c:v>1386.0</c:v>
                </c:pt>
                <c:pt idx="295">
                  <c:v>1304.0</c:v>
                </c:pt>
                <c:pt idx="296">
                  <c:v>1156.0</c:v>
                </c:pt>
                <c:pt idx="297">
                  <c:v>1418.0</c:v>
                </c:pt>
                <c:pt idx="298">
                  <c:v>1365.0</c:v>
                </c:pt>
                <c:pt idx="299">
                  <c:v>1619.0</c:v>
                </c:pt>
                <c:pt idx="300">
                  <c:v>1755.0</c:v>
                </c:pt>
                <c:pt idx="301">
                  <c:v>1580.0</c:v>
                </c:pt>
                <c:pt idx="302">
                  <c:v>1251.0</c:v>
                </c:pt>
                <c:pt idx="303">
                  <c:v>973.0</c:v>
                </c:pt>
                <c:pt idx="304">
                  <c:v>634.0</c:v>
                </c:pt>
                <c:pt idx="305">
                  <c:v>634.0</c:v>
                </c:pt>
                <c:pt idx="306">
                  <c:v>350.0</c:v>
                </c:pt>
                <c:pt idx="307">
                  <c:v>354.0</c:v>
                </c:pt>
                <c:pt idx="308">
                  <c:v>256.0</c:v>
                </c:pt>
                <c:pt idx="309">
                  <c:v>159.0</c:v>
                </c:pt>
                <c:pt idx="310">
                  <c:v>136.0</c:v>
                </c:pt>
                <c:pt idx="311">
                  <c:v>109.0</c:v>
                </c:pt>
                <c:pt idx="312">
                  <c:v>51.0</c:v>
                </c:pt>
                <c:pt idx="313">
                  <c:v>31.0</c:v>
                </c:pt>
                <c:pt idx="314">
                  <c:v>57.0</c:v>
                </c:pt>
                <c:pt idx="315">
                  <c:v>39.0</c:v>
                </c:pt>
                <c:pt idx="316">
                  <c:v>39.0</c:v>
                </c:pt>
                <c:pt idx="317">
                  <c:v>41.0</c:v>
                </c:pt>
                <c:pt idx="318">
                  <c:v>47.0</c:v>
                </c:pt>
                <c:pt idx="319">
                  <c:v>36.0</c:v>
                </c:pt>
                <c:pt idx="320">
                  <c:v>38.0</c:v>
                </c:pt>
                <c:pt idx="321">
                  <c:v>43.0</c:v>
                </c:pt>
                <c:pt idx="328">
                  <c:v>33.0</c:v>
                </c:pt>
                <c:pt idx="329">
                  <c:v>43.0</c:v>
                </c:pt>
                <c:pt idx="330">
                  <c:v>53.0</c:v>
                </c:pt>
                <c:pt idx="331">
                  <c:v>54.0</c:v>
                </c:pt>
                <c:pt idx="332">
                  <c:v>53.0</c:v>
                </c:pt>
                <c:pt idx="333">
                  <c:v>57.0</c:v>
                </c:pt>
                <c:pt idx="334">
                  <c:v>64.0</c:v>
                </c:pt>
                <c:pt idx="335">
                  <c:v>51.0</c:v>
                </c:pt>
                <c:pt idx="336">
                  <c:v>92.0</c:v>
                </c:pt>
                <c:pt idx="337">
                  <c:v>65.0</c:v>
                </c:pt>
                <c:pt idx="338">
                  <c:v>93.0</c:v>
                </c:pt>
                <c:pt idx="339">
                  <c:v>97.0</c:v>
                </c:pt>
                <c:pt idx="340">
                  <c:v>98.0</c:v>
                </c:pt>
                <c:pt idx="341">
                  <c:v>131.0</c:v>
                </c:pt>
                <c:pt idx="342">
                  <c:v>221.0</c:v>
                </c:pt>
                <c:pt idx="343">
                  <c:v>329.0</c:v>
                </c:pt>
                <c:pt idx="344">
                  <c:v>450.0</c:v>
                </c:pt>
                <c:pt idx="345">
                  <c:v>721.0</c:v>
                </c:pt>
                <c:pt idx="346">
                  <c:v>844.0</c:v>
                </c:pt>
                <c:pt idx="347">
                  <c:v>1056.0</c:v>
                </c:pt>
                <c:pt idx="348">
                  <c:v>1498.0</c:v>
                </c:pt>
                <c:pt idx="349">
                  <c:v>1983.0</c:v>
                </c:pt>
                <c:pt idx="350">
                  <c:v>2323.0</c:v>
                </c:pt>
                <c:pt idx="351">
                  <c:v>2197.0</c:v>
                </c:pt>
                <c:pt idx="352">
                  <c:v>2332.0</c:v>
                </c:pt>
                <c:pt idx="353">
                  <c:v>2279.0</c:v>
                </c:pt>
                <c:pt idx="354">
                  <c:v>2602.0</c:v>
                </c:pt>
                <c:pt idx="355">
                  <c:v>2265.0</c:v>
                </c:pt>
                <c:pt idx="356">
                  <c:v>1555.0</c:v>
                </c:pt>
                <c:pt idx="357">
                  <c:v>1734.0</c:v>
                </c:pt>
                <c:pt idx="358">
                  <c:v>1442.0</c:v>
                </c:pt>
                <c:pt idx="359">
                  <c:v>874.0</c:v>
                </c:pt>
                <c:pt idx="360">
                  <c:v>524.0</c:v>
                </c:pt>
                <c:pt idx="361">
                  <c:v>245.0</c:v>
                </c:pt>
                <c:pt idx="362">
                  <c:v>149.0</c:v>
                </c:pt>
                <c:pt idx="363">
                  <c:v>103.0</c:v>
                </c:pt>
                <c:pt idx="364">
                  <c:v>111.0</c:v>
                </c:pt>
                <c:pt idx="372">
                  <c:v>60.0</c:v>
                </c:pt>
                <c:pt idx="373">
                  <c:v>64.0</c:v>
                </c:pt>
                <c:pt idx="374">
                  <c:v>69.0</c:v>
                </c:pt>
                <c:pt idx="375">
                  <c:v>30.0</c:v>
                </c:pt>
                <c:pt idx="376">
                  <c:v>22.0</c:v>
                </c:pt>
                <c:pt idx="377">
                  <c:v>37.0</c:v>
                </c:pt>
                <c:pt idx="378">
                  <c:v>40.0</c:v>
                </c:pt>
                <c:pt idx="379">
                  <c:v>33.0</c:v>
                </c:pt>
                <c:pt idx="380">
                  <c:v>29.0</c:v>
                </c:pt>
                <c:pt idx="381">
                  <c:v>35.0</c:v>
                </c:pt>
                <c:pt idx="382">
                  <c:v>31.0</c:v>
                </c:pt>
                <c:pt idx="383">
                  <c:v>33.0</c:v>
                </c:pt>
                <c:pt idx="384">
                  <c:v>45.0</c:v>
                </c:pt>
                <c:pt idx="385">
                  <c:v>45.0</c:v>
                </c:pt>
                <c:pt idx="386">
                  <c:v>44.0</c:v>
                </c:pt>
                <c:pt idx="387">
                  <c:v>53.0</c:v>
                </c:pt>
                <c:pt idx="388">
                  <c:v>65.0</c:v>
                </c:pt>
                <c:pt idx="389">
                  <c:v>81.0</c:v>
                </c:pt>
                <c:pt idx="390">
                  <c:v>72.0</c:v>
                </c:pt>
                <c:pt idx="391">
                  <c:v>62.0</c:v>
                </c:pt>
                <c:pt idx="392">
                  <c:v>85.0</c:v>
                </c:pt>
                <c:pt idx="393">
                  <c:v>108.0</c:v>
                </c:pt>
                <c:pt idx="394">
                  <c:v>136.0</c:v>
                </c:pt>
                <c:pt idx="395">
                  <c:v>138.0</c:v>
                </c:pt>
                <c:pt idx="396">
                  <c:v>156.0</c:v>
                </c:pt>
                <c:pt idx="397">
                  <c:v>208.0</c:v>
                </c:pt>
                <c:pt idx="398">
                  <c:v>230.0</c:v>
                </c:pt>
                <c:pt idx="399">
                  <c:v>269.0</c:v>
                </c:pt>
                <c:pt idx="400">
                  <c:v>263.0</c:v>
                </c:pt>
                <c:pt idx="401">
                  <c:v>322.0</c:v>
                </c:pt>
                <c:pt idx="402">
                  <c:v>344.0</c:v>
                </c:pt>
                <c:pt idx="403">
                  <c:v>274.0</c:v>
                </c:pt>
                <c:pt idx="404">
                  <c:v>236.0</c:v>
                </c:pt>
                <c:pt idx="405">
                  <c:v>478.0</c:v>
                </c:pt>
                <c:pt idx="406">
                  <c:v>334.0</c:v>
                </c:pt>
                <c:pt idx="407">
                  <c:v>246.0</c:v>
                </c:pt>
                <c:pt idx="408">
                  <c:v>398.0</c:v>
                </c:pt>
                <c:pt idx="409">
                  <c:v>204.0</c:v>
                </c:pt>
                <c:pt idx="410">
                  <c:v>190.0</c:v>
                </c:pt>
                <c:pt idx="411">
                  <c:v>138.0</c:v>
                </c:pt>
                <c:pt idx="412">
                  <c:v>87.0</c:v>
                </c:pt>
                <c:pt idx="413">
                  <c:v>129.0</c:v>
                </c:pt>
                <c:pt idx="414">
                  <c:v>57.0</c:v>
                </c:pt>
                <c:pt idx="415">
                  <c:v>45.0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FE4E0"/>
            </a:solidFill>
          </a:ln>
        </c:spPr>
        <c:txPr>
          <a:bodyPr/>
          <a:lstStyle/>
          <a:p>
            <a:pPr>
              <a:defRPr sz="1200">
                <a:solidFill>
                  <a:srgbClr val="4D5853"/>
                </a:solidFill>
              </a:defRPr>
            </a:pPr>
          </a:p>
        </c:txPr>
        <c:crossAx val="2140495176"/>
        <c:crosses val="autoZero"/>
        <c:auto val="1"/>
        <c:lblAlgn val="ctr"/>
        <c:lblOffset val="50"/>
        <c:tickLblSkip val="1"/>
        <c:tickMarkSkip val="52"/>
        <c:noMultiLvlLbl val="0"/>
      </c:catAx>
      <c:valAx>
        <c:axId val="2140495176"/>
        <c:scaling/>
        <c:delete val="0"/>
        <c:axPos val="l"/>
        <c:majorGridlines>
          <c:spPr>
            <a:ln>
              <a:solidFill>
                <a:srgbClr val="DFE4E0"/>
              </a:solidFill>
            </a:ln>
          </c:spPr>
        </c:majorGridlines>
        <c:numFmt formatCode="#,##0" sourceLinked="0"/>
        <c:majorTickMark val="out"/>
        <c:minorTickMark val="none"/>
        <c:tickLblPos val="nextTo"/>
        <c:spPr>
          <a:ln>
            <a:noFill/>
          </a:ln>
        </c:spPr>
        <c:txPr>
          <a:bodyPr/>
          <a:lstStyle/>
          <a:p>
            <a:pPr>
              <a:defRPr sz="1200">
                <a:solidFill>
                  <a:srgbClr val="4D5853"/>
                </a:solidFill>
              </a:defRPr>
            </a:pPr>
          </a:p>
        </c:txPr>
        <c:crossAx val="2118791784"/>
        <c:crosses val="autoZero"/>
      </c:valAx>
    </c:plotArea>
    <c:plotVisOnly val="1"/>
    <c:dispBlanksAs val="gap"/>
    <c:showDLblsOverMax val="0"/>
  </c:chart>
  <c:txPr>
    <a:bodyPr/>
    <a:lstStyle/>
    <a:p>
      <a:pPr>
        <a:defRPr sz="1200">
          <a:solidFill>
            <a:srgbClr val="4D585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8211E"/>
                </a:solidFill>
              </a:rPr>
              <a:t>How much more accurate than “next month = this month”</a:t>
            </a:r>
          </a:p>
        </c:rich>
      </c:tx>
      <c:layout/>
      <c:overlay val="0"/>
    </c:title>
    <c:autoTitleDeleted val="0"/>
    <c:plotArea>
      <c:barChart>
        <c:barDir val="col"/>
        <c:grouping val="clustered"/>
        <c:ser>
          <c:idx val="0"/>
          <c:order val="0"/>
          <c:tx>
            <c:strRef>
              <c:f>Sheet1!$B$1</c:f>
              <c:strCache>
                <c:ptCount val="1"/>
                <c:pt idx="0">
                  <c:v>vs simple guess</c:v>
                </c:pt>
              </c:strCache>
            </c:strRef>
          </c:tx>
          <c:dPt>
            <c:idx val="0"/>
            <c:spPr>
              <a:solidFill>
                <a:srgbClr val="D03B3B"/>
              </a:solidFill>
            </c:spPr>
          </c:dPt>
          <c:dPt>
            <c:idx val="1"/>
            <c:spPr>
              <a:solidFill>
                <a:srgbClr val="0CA30C"/>
              </a:solidFill>
            </c:spPr>
          </c:dPt>
          <c:dPt>
            <c:idx val="2"/>
            <c:spPr>
              <a:solidFill>
                <a:srgbClr val="0CA30C"/>
              </a:solidFill>
            </c:spPr>
          </c:dPt>
          <c:dPt>
            <c:idx val="3"/>
            <c:spPr>
              <a:solidFill>
                <a:srgbClr val="0CA30C"/>
              </a:solidFill>
            </c:spPr>
          </c:dPt>
          <c:dPt>
            <c:idx val="4"/>
            <c:spPr>
              <a:solidFill>
                <a:srgbClr val="D03B3B"/>
              </a:solidFill>
            </c:spPr>
          </c:dPt>
          <c:cat>
            <c:strRef>
              <c:f>Sheet1!$A$2:$A$6</c:f>
              <c:strCache>
                <c:ptCount val="5"/>
                <c:pt idx="0">
                  <c:v>2021
quiet</c:v>
                </c:pt>
                <c:pt idx="1">
                  <c:v>2022
outbreak</c:v>
                </c:pt>
                <c:pt idx="2">
                  <c:v>2023
outbreak</c:v>
                </c:pt>
                <c:pt idx="3">
                  <c:v>2024
outbreak</c:v>
                </c:pt>
                <c:pt idx="4">
                  <c:v>2025
quiet</c:v>
                </c:pt>
              </c:strCache>
            </c:strRef>
          </c:cat>
          <c:val>
            <c:numRef>
              <c:f>Sheet1!$B$2:$B$6</c:f>
              <c:numCache>
                <c:formatCode>General</c:formatCode>
                <c:ptCount val="5"/>
                <c:pt idx="0">
                  <c:v>-0.25</c:v>
                </c:pt>
                <c:pt idx="1">
                  <c:v>0.54</c:v>
                </c:pt>
                <c:pt idx="2">
                  <c:v>0.42</c:v>
                </c:pt>
                <c:pt idx="3">
                  <c:v>0.35</c:v>
                </c:pt>
                <c:pt idx="4">
                  <c:v>-0.17</c:v>
                </c:pt>
              </c:numCache>
            </c:numRef>
          </c:val>
        </c:ser>
        <c:dLbls>
          <c:numFmt formatCode="+0%;−0%" sourceLinked="0"/>
          <c:txPr>
            <a:bodyPr/>
            <a:lstStyle/>
            <a:p>
              <a:pPr>
                <a:defRPr sz="1400" b="1">
                  <a:solidFill>
                    <a:srgbClr val="18211E"/>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low"/>
        <c:spPr>
          <a:ln>
            <a:solidFill>
              <a:srgbClr val="DFE4E0"/>
            </a:solidFill>
          </a:ln>
        </c:spPr>
        <c:txPr>
          <a:bodyPr/>
          <a:lstStyle/>
          <a:p>
            <a:pPr>
              <a:defRPr sz="1200">
                <a:solidFill>
                  <a:srgbClr val="4D5853"/>
                </a:solidFill>
              </a:defRPr>
            </a:pPr>
          </a:p>
        </c:txPr>
        <c:crossAx val="-2113994440"/>
        <c:crosses val="autoZero"/>
        <c:auto val="1"/>
        <c:lblAlgn val="ctr"/>
        <c:lblOffset val="100"/>
        <c:noMultiLvlLbl val="0"/>
      </c:catAx>
      <c:valAx>
        <c:axId val="-2113994440"/>
        <c:scaling>
          <c:max val="0.7"/>
          <c:min val="-0.4"/>
        </c:scaling>
        <c:delete val="0"/>
        <c:axPos val="l"/>
        <c:majorGridlines>
          <c:spPr>
            <a:ln>
              <a:solidFill>
                <a:srgbClr val="DFE4E0"/>
              </a:solidFill>
            </a:ln>
          </c:spPr>
        </c:majorGridlines>
        <c:numFmt formatCode="0%" sourceLinked="0"/>
        <c:majorTickMark val="out"/>
        <c:minorTickMark val="none"/>
        <c:tickLblPos val="nextTo"/>
        <c:spPr>
          <a:ln>
            <a:noFill/>
          </a:ln>
        </c:spPr>
        <c:txPr>
          <a:bodyPr/>
          <a:lstStyle/>
          <a:p>
            <a:pPr>
              <a:defRPr sz="1200">
                <a:solidFill>
                  <a:srgbClr val="4D5853"/>
                </a:solidFill>
              </a:defRPr>
            </a:pPr>
          </a:p>
        </c:txPr>
        <c:crossAx val="-2068027336"/>
        <c:crosses val="autoZero"/>
      </c:valAx>
    </c:plotArea>
    <c:dispBlanksAs val="gap"/>
  </c:chart>
  <c:txPr>
    <a:bodyPr/>
    <a:lstStyle/>
    <a:p>
      <a:pPr>
        <a:defRPr sz="1200">
          <a:solidFill>
            <a:srgbClr val="4D585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8211E"/>
                </a:solidFill>
              </a:rPr>
              <a:t>Surges caught (out of 6)</a:t>
            </a:r>
          </a:p>
        </c:rich>
      </c:tx>
      <c:layout/>
      <c:overlay val="0"/>
    </c:title>
    <c:autoTitleDeleted val="0"/>
    <c:plotArea>
      <c:barChart>
        <c:barDir val="col"/>
        <c:grouping val="clustered"/>
        <c:ser>
          <c:idx val="0"/>
          <c:order val="0"/>
          <c:tx>
            <c:strRef>
              <c:f>Sheet1!$B$1</c:f>
              <c:strCache>
                <c:ptCount val="1"/>
                <c:pt idx="0">
                  <c:v>Surges caught (out of 6)</c:v>
                </c:pt>
              </c:strCache>
            </c:strRef>
          </c:tx>
          <c:dPt>
            <c:idx val="0"/>
            <c:spPr>
              <a:solidFill>
                <a:srgbClr val="0F7C74"/>
              </a:solidFill>
            </c:spPr>
          </c:dPt>
          <c:dPt>
            <c:idx val="1"/>
            <c:spPr>
              <a:solidFill>
                <a:srgbClr val="A9B4AF"/>
              </a:solidFill>
            </c:spPr>
          </c:dPt>
          <c:dPt>
            <c:idx val="2"/>
            <c:spPr>
              <a:solidFill>
                <a:srgbClr val="A9B4AF"/>
              </a:solidFill>
            </c:spPr>
          </c:dPt>
          <c:cat>
            <c:strRef>
              <c:f>Sheet1!$A$2:$A$4</c:f>
              <c:strCache>
                <c:ptCount val="3"/>
                <c:pt idx="0">
                  <c:v>Simple</c:v>
                </c:pt>
                <c:pt idx="1">
                  <c:v>Complex</c:v>
                </c:pt>
                <c:pt idx="2">
                  <c:v>Complex
+ weather</c:v>
                </c:pt>
              </c:strCache>
            </c:strRef>
          </c:cat>
          <c:val>
            <c:numRef>
              <c:f>Sheet1!$B$2:$B$4</c:f>
              <c:numCache>
                <c:formatCode>General</c:formatCode>
                <c:ptCount val="3"/>
                <c:pt idx="0">
                  <c:v>4</c:v>
                </c:pt>
                <c:pt idx="1">
                  <c:v>3</c:v>
                </c:pt>
                <c:pt idx="2">
                  <c:v>2</c:v>
                </c:pt>
              </c:numCache>
            </c:numRef>
          </c:val>
        </c:ser>
        <c:dLbls>
          <c:numFmt formatCode="0" sourceLinked="0"/>
          <c:txPr>
            <a:bodyPr/>
            <a:lstStyle/>
            <a:p>
              <a:pPr>
                <a:defRPr sz="1600" b="1">
                  <a:solidFill>
                    <a:srgbClr val="18211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FE4E0"/>
            </a:solidFill>
          </a:ln>
        </c:spPr>
        <c:txPr>
          <a:bodyPr/>
          <a:lstStyle/>
          <a:p>
            <a:pPr>
              <a:defRPr sz="1200">
                <a:solidFill>
                  <a:srgbClr val="4D5853"/>
                </a:solidFill>
              </a:defRPr>
            </a:pPr>
          </a:p>
        </c:txPr>
        <c:crossAx val="-2113994440"/>
        <c:crosses val="autoZero"/>
        <c:auto val="1"/>
        <c:lblAlgn val="ctr"/>
        <c:lblOffset val="100"/>
        <c:noMultiLvlLbl val="0"/>
      </c:catAx>
      <c:valAx>
        <c:axId val="-2113994440"/>
        <c:scaling>
          <c:max val="5.0"/>
          <c:min val="0.0"/>
        </c:scaling>
        <c:delete/>
        <c:axPos val="l"/>
        <c:numFmt formatCode="#,##0" sourceLinked="0"/>
        <c:majorTickMark val="out"/>
        <c:minorTickMark val="none"/>
        <c:tickLblPos val="nextTo"/>
        <c:spPr>
          <a:ln>
            <a:noFill/>
          </a:ln>
        </c:spPr>
        <c:txPr>
          <a:bodyPr/>
          <a:lstStyle/>
          <a:p>
            <a:pPr>
              <a:defRPr sz="1200">
                <a:solidFill>
                  <a:srgbClr val="4D5853"/>
                </a:solidFill>
              </a:defRPr>
            </a:pPr>
          </a:p>
        </c:txPr>
        <c:crossAx val="-2068027336"/>
        <c:crosses val="autoZero"/>
      </c:valAx>
    </c:plotArea>
    <c:dispBlanksAs val="gap"/>
  </c:chart>
  <c:txPr>
    <a:bodyPr/>
    <a:lstStyle/>
    <a:p>
      <a:pPr>
        <a:defRPr sz="1200">
          <a:solidFill>
            <a:srgbClr val="4D585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8211E"/>
                </a:solidFill>
              </a:rPr>
              <a:t>False alarms (5 years)</a:t>
            </a:r>
          </a:p>
        </c:rich>
      </c:tx>
      <c:layout/>
      <c:overlay val="0"/>
    </c:title>
    <c:autoTitleDeleted val="0"/>
    <c:plotArea>
      <c:barChart>
        <c:barDir val="col"/>
        <c:grouping val="clustered"/>
        <c:ser>
          <c:idx val="0"/>
          <c:order val="0"/>
          <c:tx>
            <c:strRef>
              <c:f>Sheet1!$B$1</c:f>
              <c:strCache>
                <c:ptCount val="1"/>
                <c:pt idx="0">
                  <c:v>False alarms (5 years)</c:v>
                </c:pt>
              </c:strCache>
            </c:strRef>
          </c:tx>
          <c:dPt>
            <c:idx val="0"/>
            <c:spPr>
              <a:solidFill>
                <a:srgbClr val="0F7C74"/>
              </a:solidFill>
            </c:spPr>
          </c:dPt>
          <c:dPt>
            <c:idx val="1"/>
            <c:spPr>
              <a:solidFill>
                <a:srgbClr val="A9B4AF"/>
              </a:solidFill>
            </c:spPr>
          </c:dPt>
          <c:dPt>
            <c:idx val="2"/>
            <c:spPr>
              <a:solidFill>
                <a:srgbClr val="A9B4AF"/>
              </a:solidFill>
            </c:spPr>
          </c:dPt>
          <c:cat>
            <c:strRef>
              <c:f>Sheet1!$A$2:$A$4</c:f>
              <c:strCache>
                <c:ptCount val="3"/>
                <c:pt idx="0">
                  <c:v>Simple</c:v>
                </c:pt>
                <c:pt idx="1">
                  <c:v>Complex</c:v>
                </c:pt>
                <c:pt idx="2">
                  <c:v>Complex
+ weather</c:v>
                </c:pt>
              </c:strCache>
            </c:strRef>
          </c:cat>
          <c:val>
            <c:numRef>
              <c:f>Sheet1!$B$2:$B$4</c:f>
              <c:numCache>
                <c:formatCode>General</c:formatCode>
                <c:ptCount val="3"/>
                <c:pt idx="0">
                  <c:v>2</c:v>
                </c:pt>
                <c:pt idx="1">
                  <c:v>8</c:v>
                </c:pt>
                <c:pt idx="2">
                  <c:v>5</c:v>
                </c:pt>
              </c:numCache>
            </c:numRef>
          </c:val>
        </c:ser>
        <c:dLbls>
          <c:numFmt formatCode="0" sourceLinked="0"/>
          <c:txPr>
            <a:bodyPr/>
            <a:lstStyle/>
            <a:p>
              <a:pPr>
                <a:defRPr sz="1600" b="1">
                  <a:solidFill>
                    <a:srgbClr val="18211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FE4E0"/>
            </a:solidFill>
          </a:ln>
        </c:spPr>
        <c:txPr>
          <a:bodyPr/>
          <a:lstStyle/>
          <a:p>
            <a:pPr>
              <a:defRPr sz="1200">
                <a:solidFill>
                  <a:srgbClr val="4D5853"/>
                </a:solidFill>
              </a:defRPr>
            </a:pPr>
          </a:p>
        </c:txPr>
        <c:crossAx val="-2113994440"/>
        <c:crosses val="autoZero"/>
        <c:auto val="1"/>
        <c:lblAlgn val="ctr"/>
        <c:lblOffset val="100"/>
        <c:noMultiLvlLbl val="0"/>
      </c:catAx>
      <c:valAx>
        <c:axId val="-2113994440"/>
        <c:scaling>
          <c:max val="10.0"/>
          <c:min val="0.0"/>
        </c:scaling>
        <c:delete/>
        <c:axPos val="l"/>
        <c:numFmt formatCode="#,##0" sourceLinked="0"/>
        <c:majorTickMark val="out"/>
        <c:minorTickMark val="none"/>
        <c:tickLblPos val="nextTo"/>
        <c:spPr>
          <a:ln>
            <a:noFill/>
          </a:ln>
        </c:spPr>
        <c:txPr>
          <a:bodyPr/>
          <a:lstStyle/>
          <a:p>
            <a:pPr>
              <a:defRPr sz="1200">
                <a:solidFill>
                  <a:srgbClr val="4D5853"/>
                </a:solidFill>
              </a:defRPr>
            </a:pPr>
          </a:p>
        </c:txPr>
        <c:crossAx val="-2068027336"/>
        <c:crosses val="autoZero"/>
      </c:valAx>
    </c:plotArea>
    <c:dispBlanksAs val="gap"/>
  </c:chart>
  <c:txPr>
    <a:bodyPr/>
    <a:lstStyle/>
    <a:p>
      <a:pPr>
        <a:defRPr sz="1200">
          <a:solidFill>
            <a:srgbClr val="4D585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8211E"/>
                </a:solidFill>
              </a:rPr>
              <a:t>Average error (cases per week)</a:t>
            </a:r>
          </a:p>
        </c:rich>
      </c:tx>
      <c:layout/>
      <c:overlay val="0"/>
    </c:title>
    <c:autoTitleDeleted val="0"/>
    <c:plotArea>
      <c:barChart>
        <c:barDir val="col"/>
        <c:grouping val="clustered"/>
        <c:ser>
          <c:idx val="0"/>
          <c:order val="0"/>
          <c:tx>
            <c:strRef>
              <c:f>Sheet1!$B$1</c:f>
              <c:strCache>
                <c:ptCount val="1"/>
                <c:pt idx="0">
                  <c:v>Average error (cases per week)</c:v>
                </c:pt>
              </c:strCache>
            </c:strRef>
          </c:tx>
          <c:dPt>
            <c:idx val="0"/>
            <c:spPr>
              <a:solidFill>
                <a:srgbClr val="0F7C74"/>
              </a:solidFill>
            </c:spPr>
          </c:dPt>
          <c:dPt>
            <c:idx val="1"/>
            <c:spPr>
              <a:solidFill>
                <a:srgbClr val="A9B4AF"/>
              </a:solidFill>
            </c:spPr>
          </c:dPt>
          <c:dPt>
            <c:idx val="2"/>
            <c:spPr>
              <a:solidFill>
                <a:srgbClr val="A9B4AF"/>
              </a:solidFill>
            </c:spPr>
          </c:dPt>
          <c:cat>
            <c:strRef>
              <c:f>Sheet1!$A$2:$A$4</c:f>
              <c:strCache>
                <c:ptCount val="3"/>
                <c:pt idx="0">
                  <c:v>Simple</c:v>
                </c:pt>
                <c:pt idx="1">
                  <c:v>Complex</c:v>
                </c:pt>
                <c:pt idx="2">
                  <c:v>Complex
+ weather</c:v>
                </c:pt>
              </c:strCache>
            </c:strRef>
          </c:cat>
          <c:val>
            <c:numRef>
              <c:f>Sheet1!$B$2:$B$4</c:f>
              <c:numCache>
                <c:formatCode>General</c:formatCode>
                <c:ptCount val="3"/>
                <c:pt idx="0">
                  <c:v>144</c:v>
                </c:pt>
                <c:pt idx="1">
                  <c:v>202</c:v>
                </c:pt>
                <c:pt idx="2">
                  <c:v>216</c:v>
                </c:pt>
              </c:numCache>
            </c:numRef>
          </c:val>
        </c:ser>
        <c:dLbls>
          <c:numFmt formatCode="0" sourceLinked="0"/>
          <c:txPr>
            <a:bodyPr/>
            <a:lstStyle/>
            <a:p>
              <a:pPr>
                <a:defRPr sz="1600" b="1">
                  <a:solidFill>
                    <a:srgbClr val="18211E"/>
                  </a:solidFil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out"/>
        <c:minorTickMark val="none"/>
        <c:tickLblPos val="nextTo"/>
        <c:spPr>
          <a:ln>
            <a:solidFill>
              <a:srgbClr val="DFE4E0"/>
            </a:solidFill>
          </a:ln>
        </c:spPr>
        <c:txPr>
          <a:bodyPr/>
          <a:lstStyle/>
          <a:p>
            <a:pPr>
              <a:defRPr sz="1200">
                <a:solidFill>
                  <a:srgbClr val="4D5853"/>
                </a:solidFill>
              </a:defRPr>
            </a:pPr>
          </a:p>
        </c:txPr>
        <c:crossAx val="-2113994440"/>
        <c:crosses val="autoZero"/>
        <c:auto val="1"/>
        <c:lblAlgn val="ctr"/>
        <c:lblOffset val="100"/>
        <c:noMultiLvlLbl val="0"/>
      </c:catAx>
      <c:valAx>
        <c:axId val="-2113994440"/>
        <c:scaling>
          <c:max val="270.0"/>
          <c:min val="0.0"/>
        </c:scaling>
        <c:delete/>
        <c:axPos val="l"/>
        <c:numFmt formatCode="#,##0" sourceLinked="0"/>
        <c:majorTickMark val="out"/>
        <c:minorTickMark val="none"/>
        <c:tickLblPos val="nextTo"/>
        <c:spPr>
          <a:ln>
            <a:noFill/>
          </a:ln>
        </c:spPr>
        <c:txPr>
          <a:bodyPr/>
          <a:lstStyle/>
          <a:p>
            <a:pPr>
              <a:defRPr sz="1200">
                <a:solidFill>
                  <a:srgbClr val="4D5853"/>
                </a:solidFill>
              </a:defRPr>
            </a:pPr>
          </a:p>
        </c:txPr>
        <c:crossAx val="-2068027336"/>
        <c:crosses val="autoZero"/>
      </c:valAx>
    </c:plotArea>
    <c:dispBlanksAs val="gap"/>
  </c:chart>
  <c:txPr>
    <a:bodyPr/>
    <a:lstStyle/>
    <a:p>
      <a:pPr>
        <a:defRPr sz="1200">
          <a:solidFill>
            <a:srgbClr val="4D585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18211E"/>
                </a:solidFill>
              </a:rPr>
              <a:t>Weekly dengue cases, Nepal 2018–2025</a:t>
            </a:r>
          </a:p>
        </c:rich>
      </c:tx>
      <c:layout/>
      <c:overlay val="0"/>
    </c:title>
    <c:autoTitleDeleted val="0"/>
    <c:plotArea>
      <c:lineChart>
        <c:grouping val="standard"/>
        <c:varyColors val="0"/>
        <c:ser>
          <c:idx val="0"/>
          <c:order val="0"/>
          <c:tx>
            <c:strRef>
              <c:f>Sheet1!$B$1</c:f>
              <c:strCache>
                <c:ptCount val="1"/>
                <c:pt idx="0">
                  <c:v>Dengue cases each week</c:v>
                </c:pt>
              </c:strCache>
            </c:strRef>
          </c:tx>
          <c:spPr>
            <a:ln w="28575">
              <a:solidFill>
                <a:srgbClr val="2A78D6"/>
              </a:solidFill>
            </a:ln>
          </c:spPr>
          <c:marker>
            <c:symbol val="none"/>
          </c:marker>
          <c:cat>
            <c:strRef>
              <c:f>Sheet1!$A$2:$A$418</c:f>
              <c:strCache>
                <c:ptCount val="417"/>
                <c:pt idx="0">
                  <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2018</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2019</c:v>
                </c:pt>
                <c:pt idx="78">
                  <c:v/>
                </c:pt>
                <c:pt idx="79">
                  <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
                </c:pt>
                <c:pt idx="119">
                  <c:v/>
                </c:pt>
                <c:pt idx="120">
                  <c:v/>
                </c:pt>
                <c:pt idx="121">
                  <c:v/>
                </c:pt>
                <c:pt idx="122">
                  <c:v/>
                </c:pt>
                <c:pt idx="123">
                  <c:v/>
                </c:pt>
                <c:pt idx="124">
                  <c:v/>
                </c:pt>
                <c:pt idx="125">
                  <c:v/>
                </c:pt>
                <c:pt idx="126">
                  <c:v/>
                </c:pt>
                <c:pt idx="127">
                  <c:v/>
                </c:pt>
                <c:pt idx="128">
                  <c:v/>
                </c:pt>
                <c:pt idx="129">
                  <c:v>2020</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2021</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2022</c:v>
                </c:pt>
                <c:pt idx="234">
                  <c:v/>
                </c:pt>
                <c:pt idx="235">
                  <c:v/>
                </c:pt>
                <c:pt idx="236">
                  <c:v/>
                </c:pt>
                <c:pt idx="237">
                  <c:v/>
                </c:pt>
                <c:pt idx="238">
                  <c:v/>
                </c:pt>
                <c:pt idx="239">
                  <c:v/>
                </c:pt>
                <c:pt idx="240">
                  <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
                </c:pt>
                <c:pt idx="280">
                  <c:v/>
                </c:pt>
                <c:pt idx="281">
                  <c:v/>
                </c:pt>
                <c:pt idx="282">
                  <c:v/>
                </c:pt>
                <c:pt idx="283">
                  <c:v/>
                </c:pt>
                <c:pt idx="284">
                  <c:v/>
                </c:pt>
                <c:pt idx="285">
                  <c:v>2023</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2024</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2025</c:v>
                </c:pt>
                <c:pt idx="391">
                  <c:v/>
                </c:pt>
                <c:pt idx="392">
                  <c:v/>
                </c:pt>
                <c:pt idx="393">
                  <c:v/>
                </c:pt>
                <c:pt idx="394">
                  <c:v/>
                </c:pt>
                <c:pt idx="395">
                  <c:v/>
                </c:pt>
                <c:pt idx="396">
                  <c:v/>
                </c:pt>
                <c:pt idx="397">
                  <c:v/>
                </c:pt>
                <c:pt idx="398">
                  <c:v/>
                </c:pt>
                <c:pt idx="399">
                  <c:v/>
                </c:pt>
                <c:pt idx="400">
                  <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strCache>
            </c:strRef>
          </c:cat>
          <c:val>
            <c:numRef>
              <c:f>Sheet1!$B$2:$B$418</c:f>
              <c:numCache>
                <c:formatCode>General</c:formatCode>
                <c:ptCount val="417"/>
                <c:pt idx="1">
                  <c:v>2.0</c:v>
                </c:pt>
                <c:pt idx="2">
                  <c:v>0.0</c:v>
                </c:pt>
                <c:pt idx="3">
                  <c:v>1.0</c:v>
                </c:pt>
                <c:pt idx="4">
                  <c:v>0.0</c:v>
                </c:pt>
                <c:pt idx="5">
                  <c:v>1.0</c:v>
                </c:pt>
                <c:pt idx="6">
                  <c:v>1.0</c:v>
                </c:pt>
                <c:pt idx="7">
                  <c:v>1.0</c:v>
                </c:pt>
                <c:pt idx="8">
                  <c:v>0.0</c:v>
                </c:pt>
                <c:pt idx="9">
                  <c:v>0.0</c:v>
                </c:pt>
                <c:pt idx="10">
                  <c:v>1.0</c:v>
                </c:pt>
                <c:pt idx="14">
                  <c:v>0.0</c:v>
                </c:pt>
                <c:pt idx="15">
                  <c:v>0.0</c:v>
                </c:pt>
                <c:pt idx="16">
                  <c:v>0.0</c:v>
                </c:pt>
                <c:pt idx="17">
                  <c:v>1.0</c:v>
                </c:pt>
                <c:pt idx="18">
                  <c:v>0.0</c:v>
                </c:pt>
                <c:pt idx="19">
                  <c:v>0.0</c:v>
                </c:pt>
                <c:pt idx="20">
                  <c:v>0.0</c:v>
                </c:pt>
                <c:pt idx="21">
                  <c:v>0.0</c:v>
                </c:pt>
                <c:pt idx="22">
                  <c:v>0.0</c:v>
                </c:pt>
                <c:pt idx="23">
                  <c:v>3.0</c:v>
                </c:pt>
                <c:pt idx="24">
                  <c:v>2.0</c:v>
                </c:pt>
                <c:pt idx="25">
                  <c:v>2.0</c:v>
                </c:pt>
                <c:pt idx="26">
                  <c:v>5.0</c:v>
                </c:pt>
                <c:pt idx="27">
                  <c:v>4.0</c:v>
                </c:pt>
                <c:pt idx="28">
                  <c:v>0.0</c:v>
                </c:pt>
                <c:pt idx="29">
                  <c:v>6.0</c:v>
                </c:pt>
                <c:pt idx="30">
                  <c:v>4.0</c:v>
                </c:pt>
                <c:pt idx="31">
                  <c:v>6.0</c:v>
                </c:pt>
                <c:pt idx="32">
                  <c:v>6.0</c:v>
                </c:pt>
                <c:pt idx="33">
                  <c:v>7.0</c:v>
                </c:pt>
                <c:pt idx="34">
                  <c:v>11.0</c:v>
                </c:pt>
                <c:pt idx="35">
                  <c:v>6.0</c:v>
                </c:pt>
                <c:pt idx="38">
                  <c:v>4.0</c:v>
                </c:pt>
                <c:pt idx="39">
                  <c:v>5.0</c:v>
                </c:pt>
                <c:pt idx="40">
                  <c:v>3.0</c:v>
                </c:pt>
                <c:pt idx="41">
                  <c:v>0.0</c:v>
                </c:pt>
                <c:pt idx="42">
                  <c:v>13.0</c:v>
                </c:pt>
                <c:pt idx="43">
                  <c:v>10.0</c:v>
                </c:pt>
                <c:pt idx="44">
                  <c:v>7.0</c:v>
                </c:pt>
                <c:pt idx="45">
                  <c:v>13.0</c:v>
                </c:pt>
                <c:pt idx="46">
                  <c:v>4.0</c:v>
                </c:pt>
                <c:pt idx="47">
                  <c:v>14.0</c:v>
                </c:pt>
                <c:pt idx="48">
                  <c:v>9.0</c:v>
                </c:pt>
                <c:pt idx="49">
                  <c:v>3.0</c:v>
                </c:pt>
                <c:pt idx="50">
                  <c:v>0.0</c:v>
                </c:pt>
                <c:pt idx="51">
                  <c:v>0.0</c:v>
                </c:pt>
                <c:pt idx="52">
                  <c:v>0.0</c:v>
                </c:pt>
                <c:pt idx="53">
                  <c:v>0.0</c:v>
                </c:pt>
                <c:pt idx="54">
                  <c:v>2.0</c:v>
                </c:pt>
                <c:pt idx="55">
                  <c:v>1.0</c:v>
                </c:pt>
                <c:pt idx="56">
                  <c:v>0.0</c:v>
                </c:pt>
                <c:pt idx="57">
                  <c:v>0.0</c:v>
                </c:pt>
                <c:pt idx="58">
                  <c:v>0.0</c:v>
                </c:pt>
                <c:pt idx="59">
                  <c:v>0.0</c:v>
                </c:pt>
                <c:pt idx="60">
                  <c:v>0.0</c:v>
                </c:pt>
                <c:pt idx="61">
                  <c:v>2.0</c:v>
                </c:pt>
                <c:pt idx="62">
                  <c:v>0.0</c:v>
                </c:pt>
                <c:pt idx="63">
                  <c:v>0.0</c:v>
                </c:pt>
                <c:pt idx="64">
                  <c:v>0.0</c:v>
                </c:pt>
                <c:pt idx="65">
                  <c:v>1.0</c:v>
                </c:pt>
                <c:pt idx="66">
                  <c:v>0.0</c:v>
                </c:pt>
                <c:pt idx="67">
                  <c:v>1.0</c:v>
                </c:pt>
                <c:pt idx="68">
                  <c:v>1.0</c:v>
                </c:pt>
                <c:pt idx="69">
                  <c:v>1.0</c:v>
                </c:pt>
                <c:pt idx="70">
                  <c:v>2.0</c:v>
                </c:pt>
                <c:pt idx="71">
                  <c:v>1.0</c:v>
                </c:pt>
                <c:pt idx="72">
                  <c:v>9.0</c:v>
                </c:pt>
                <c:pt idx="73">
                  <c:v>16.0</c:v>
                </c:pt>
                <c:pt idx="74">
                  <c:v>22.0</c:v>
                </c:pt>
                <c:pt idx="75">
                  <c:v>12.0</c:v>
                </c:pt>
                <c:pt idx="76">
                  <c:v>22.0</c:v>
                </c:pt>
                <c:pt idx="77">
                  <c:v>52.0</c:v>
                </c:pt>
                <c:pt idx="78">
                  <c:v>42.0</c:v>
                </c:pt>
                <c:pt idx="79">
                  <c:v>37.0</c:v>
                </c:pt>
                <c:pt idx="80">
                  <c:v>61.0</c:v>
                </c:pt>
                <c:pt idx="81">
                  <c:v>78.0</c:v>
                </c:pt>
                <c:pt idx="82">
                  <c:v>63.0</c:v>
                </c:pt>
                <c:pt idx="83">
                  <c:v>142.0</c:v>
                </c:pt>
                <c:pt idx="84">
                  <c:v>222.0</c:v>
                </c:pt>
                <c:pt idx="85">
                  <c:v>249.0</c:v>
                </c:pt>
                <c:pt idx="86">
                  <c:v>355.0</c:v>
                </c:pt>
                <c:pt idx="87">
                  <c:v>912.0</c:v>
                </c:pt>
                <c:pt idx="88">
                  <c:v>1468.0</c:v>
                </c:pt>
                <c:pt idx="89">
                  <c:v>1531.0</c:v>
                </c:pt>
                <c:pt idx="90">
                  <c:v>1065.0</c:v>
                </c:pt>
                <c:pt idx="91">
                  <c:v>844.0</c:v>
                </c:pt>
                <c:pt idx="92">
                  <c:v>542.0</c:v>
                </c:pt>
                <c:pt idx="93">
                  <c:v>740.0</c:v>
                </c:pt>
                <c:pt idx="94">
                  <c:v>404.0</c:v>
                </c:pt>
                <c:pt idx="95">
                  <c:v>372.0</c:v>
                </c:pt>
                <c:pt idx="96">
                  <c:v>339.0</c:v>
                </c:pt>
                <c:pt idx="97">
                  <c:v>237.0</c:v>
                </c:pt>
                <c:pt idx="98">
                  <c:v>147.0</c:v>
                </c:pt>
                <c:pt idx="99">
                  <c:v>105.0</c:v>
                </c:pt>
                <c:pt idx="100">
                  <c:v>37.0</c:v>
                </c:pt>
                <c:pt idx="101">
                  <c:v>27.0</c:v>
                </c:pt>
                <c:pt idx="102">
                  <c:v>8.0</c:v>
                </c:pt>
                <c:pt idx="103">
                  <c:v>5.0</c:v>
                </c:pt>
                <c:pt idx="104">
                  <c:v>6.0</c:v>
                </c:pt>
                <c:pt idx="105">
                  <c:v>2.0</c:v>
                </c:pt>
                <c:pt idx="106">
                  <c:v>2.0</c:v>
                </c:pt>
                <c:pt idx="107">
                  <c:v>0.0</c:v>
                </c:pt>
                <c:pt idx="108">
                  <c:v>5.0</c:v>
                </c:pt>
                <c:pt idx="109">
                  <c:v>4.0</c:v>
                </c:pt>
                <c:pt idx="110">
                  <c:v>4.0</c:v>
                </c:pt>
                <c:pt idx="111">
                  <c:v>3.0</c:v>
                </c:pt>
                <c:pt idx="112">
                  <c:v>4.0</c:v>
                </c:pt>
                <c:pt idx="113">
                  <c:v>4.0</c:v>
                </c:pt>
                <c:pt idx="114">
                  <c:v>0.0</c:v>
                </c:pt>
                <c:pt idx="115">
                  <c:v>3.0</c:v>
                </c:pt>
                <c:pt idx="116">
                  <c:v>3.0</c:v>
                </c:pt>
                <c:pt idx="117">
                  <c:v>1.0</c:v>
                </c:pt>
                <c:pt idx="118">
                  <c:v>1.0</c:v>
                </c:pt>
                <c:pt idx="119">
                  <c:v>0.0</c:v>
                </c:pt>
                <c:pt idx="120">
                  <c:v>2.0</c:v>
                </c:pt>
                <c:pt idx="121">
                  <c:v>2.0</c:v>
                </c:pt>
                <c:pt idx="122">
                  <c:v>9.0</c:v>
                </c:pt>
                <c:pt idx="123">
                  <c:v>3.0</c:v>
                </c:pt>
                <c:pt idx="124">
                  <c:v>3.0</c:v>
                </c:pt>
                <c:pt idx="125">
                  <c:v>13.0</c:v>
                </c:pt>
                <c:pt idx="126">
                  <c:v>6.0</c:v>
                </c:pt>
                <c:pt idx="127">
                  <c:v>5.0</c:v>
                </c:pt>
                <c:pt idx="128">
                  <c:v>5.0</c:v>
                </c:pt>
                <c:pt idx="129">
                  <c:v>2.0</c:v>
                </c:pt>
                <c:pt idx="130">
                  <c:v>7.0</c:v>
                </c:pt>
                <c:pt idx="131">
                  <c:v>7.0</c:v>
                </c:pt>
                <c:pt idx="132">
                  <c:v>8.0</c:v>
                </c:pt>
                <c:pt idx="133">
                  <c:v>14.0</c:v>
                </c:pt>
                <c:pt idx="134">
                  <c:v>21.0</c:v>
                </c:pt>
                <c:pt idx="135">
                  <c:v>9.0</c:v>
                </c:pt>
                <c:pt idx="136">
                  <c:v>15.0</c:v>
                </c:pt>
                <c:pt idx="137">
                  <c:v>27.0</c:v>
                </c:pt>
                <c:pt idx="138">
                  <c:v>27.0</c:v>
                </c:pt>
                <c:pt idx="139">
                  <c:v>23.0</c:v>
                </c:pt>
                <c:pt idx="140">
                  <c:v>20.0</c:v>
                </c:pt>
                <c:pt idx="141">
                  <c:v>29.0</c:v>
                </c:pt>
                <c:pt idx="142">
                  <c:v>10.0</c:v>
                </c:pt>
                <c:pt idx="143">
                  <c:v>15.0</c:v>
                </c:pt>
                <c:pt idx="144">
                  <c:v>19.0</c:v>
                </c:pt>
                <c:pt idx="145">
                  <c:v>16.0</c:v>
                </c:pt>
                <c:pt idx="146">
                  <c:v>13.0</c:v>
                </c:pt>
                <c:pt idx="147">
                  <c:v>13.0</c:v>
                </c:pt>
                <c:pt idx="148">
                  <c:v>11.0</c:v>
                </c:pt>
                <c:pt idx="149">
                  <c:v>10.0</c:v>
                </c:pt>
                <c:pt idx="150">
                  <c:v>8.0</c:v>
                </c:pt>
                <c:pt idx="151">
                  <c:v>2.0</c:v>
                </c:pt>
                <c:pt idx="152">
                  <c:v>2.0</c:v>
                </c:pt>
                <c:pt idx="153">
                  <c:v>5.0</c:v>
                </c:pt>
                <c:pt idx="154">
                  <c:v>1.0</c:v>
                </c:pt>
                <c:pt idx="155">
                  <c:v>2.0</c:v>
                </c:pt>
                <c:pt idx="156">
                  <c:v>0.0</c:v>
                </c:pt>
                <c:pt idx="157">
                  <c:v>1.0</c:v>
                </c:pt>
                <c:pt idx="158">
                  <c:v>2.0</c:v>
                </c:pt>
                <c:pt idx="159">
                  <c:v>0.0</c:v>
                </c:pt>
                <c:pt idx="160">
                  <c:v>0.0</c:v>
                </c:pt>
                <c:pt idx="161">
                  <c:v>2.0</c:v>
                </c:pt>
                <c:pt idx="162">
                  <c:v>4.0</c:v>
                </c:pt>
                <c:pt idx="163">
                  <c:v>1.0</c:v>
                </c:pt>
                <c:pt idx="164">
                  <c:v>3.0</c:v>
                </c:pt>
                <c:pt idx="165">
                  <c:v>5.0</c:v>
                </c:pt>
                <c:pt idx="166">
                  <c:v>0.0</c:v>
                </c:pt>
                <c:pt idx="167">
                  <c:v>1.0</c:v>
                </c:pt>
                <c:pt idx="168">
                  <c:v>1.0</c:v>
                </c:pt>
                <c:pt idx="169">
                  <c:v>3.0</c:v>
                </c:pt>
                <c:pt idx="170">
                  <c:v>1.0</c:v>
                </c:pt>
                <c:pt idx="171">
                  <c:v>4.0</c:v>
                </c:pt>
                <c:pt idx="172">
                  <c:v>5.0</c:v>
                </c:pt>
                <c:pt idx="173">
                  <c:v>3.0</c:v>
                </c:pt>
                <c:pt idx="174">
                  <c:v>0.0</c:v>
                </c:pt>
                <c:pt idx="175">
                  <c:v>0.0</c:v>
                </c:pt>
                <c:pt idx="176">
                  <c:v>0.0</c:v>
                </c:pt>
                <c:pt idx="177">
                  <c:v>4.0</c:v>
                </c:pt>
                <c:pt idx="178">
                  <c:v>0.0</c:v>
                </c:pt>
                <c:pt idx="179">
                  <c:v>1.0</c:v>
                </c:pt>
                <c:pt idx="180">
                  <c:v>1.0</c:v>
                </c:pt>
                <c:pt idx="181">
                  <c:v>1.0</c:v>
                </c:pt>
                <c:pt idx="182">
                  <c:v>7.0</c:v>
                </c:pt>
                <c:pt idx="183">
                  <c:v>11.0</c:v>
                </c:pt>
                <c:pt idx="184">
                  <c:v>5.0</c:v>
                </c:pt>
                <c:pt idx="185">
                  <c:v>4.0</c:v>
                </c:pt>
                <c:pt idx="186">
                  <c:v>15.0</c:v>
                </c:pt>
                <c:pt idx="187">
                  <c:v>12.0</c:v>
                </c:pt>
                <c:pt idx="188">
                  <c:v>8.0</c:v>
                </c:pt>
                <c:pt idx="189">
                  <c:v>6.0</c:v>
                </c:pt>
                <c:pt idx="190">
                  <c:v>9.0</c:v>
                </c:pt>
                <c:pt idx="191">
                  <c:v>10.0</c:v>
                </c:pt>
                <c:pt idx="192">
                  <c:v>19.0</c:v>
                </c:pt>
                <c:pt idx="193">
                  <c:v>16.0</c:v>
                </c:pt>
                <c:pt idx="194">
                  <c:v>24.0</c:v>
                </c:pt>
                <c:pt idx="195">
                  <c:v>12.0</c:v>
                </c:pt>
                <c:pt idx="196">
                  <c:v>8.0</c:v>
                </c:pt>
                <c:pt idx="197">
                  <c:v>19.0</c:v>
                </c:pt>
                <c:pt idx="198">
                  <c:v>21.0</c:v>
                </c:pt>
                <c:pt idx="199">
                  <c:v>18.0</c:v>
                </c:pt>
                <c:pt idx="200">
                  <c:v>20.0</c:v>
                </c:pt>
                <c:pt idx="201">
                  <c:v>18.0</c:v>
                </c:pt>
                <c:pt idx="202">
                  <c:v>15.0</c:v>
                </c:pt>
                <c:pt idx="203">
                  <c:v>4.0</c:v>
                </c:pt>
                <c:pt idx="204">
                  <c:v>4.0</c:v>
                </c:pt>
                <c:pt idx="205">
                  <c:v>6.0</c:v>
                </c:pt>
                <c:pt idx="206">
                  <c:v>4.0</c:v>
                </c:pt>
                <c:pt idx="207">
                  <c:v>2.0</c:v>
                </c:pt>
                <c:pt idx="208">
                  <c:v>4.0</c:v>
                </c:pt>
                <c:pt idx="209">
                  <c:v>5.0</c:v>
                </c:pt>
                <c:pt idx="210">
                  <c:v>2.0</c:v>
                </c:pt>
                <c:pt idx="211">
                  <c:v>2.0</c:v>
                </c:pt>
                <c:pt idx="212">
                  <c:v>1.0</c:v>
                </c:pt>
                <c:pt idx="213">
                  <c:v>0.0</c:v>
                </c:pt>
                <c:pt idx="214">
                  <c:v>0.0</c:v>
                </c:pt>
                <c:pt idx="215">
                  <c:v>0.0</c:v>
                </c:pt>
                <c:pt idx="216">
                  <c:v>0.0</c:v>
                </c:pt>
                <c:pt idx="217">
                  <c:v>1.0</c:v>
                </c:pt>
                <c:pt idx="218">
                  <c:v>2.0</c:v>
                </c:pt>
                <c:pt idx="219">
                  <c:v>1.0</c:v>
                </c:pt>
                <c:pt idx="220">
                  <c:v>8.0</c:v>
                </c:pt>
                <c:pt idx="221">
                  <c:v>2.0</c:v>
                </c:pt>
                <c:pt idx="222">
                  <c:v>2.0</c:v>
                </c:pt>
                <c:pt idx="223">
                  <c:v>5.0</c:v>
                </c:pt>
                <c:pt idx="224">
                  <c:v>3.0</c:v>
                </c:pt>
                <c:pt idx="225">
                  <c:v>5.0</c:v>
                </c:pt>
                <c:pt idx="226">
                  <c:v>5.0</c:v>
                </c:pt>
                <c:pt idx="227">
                  <c:v>4.0</c:v>
                </c:pt>
                <c:pt idx="228">
                  <c:v>3.0</c:v>
                </c:pt>
                <c:pt idx="229">
                  <c:v>3.0</c:v>
                </c:pt>
                <c:pt idx="230">
                  <c:v>6.0</c:v>
                </c:pt>
                <c:pt idx="231">
                  <c:v>5.0</c:v>
                </c:pt>
                <c:pt idx="232">
                  <c:v>21.0</c:v>
                </c:pt>
                <c:pt idx="233">
                  <c:v>31.0</c:v>
                </c:pt>
                <c:pt idx="234">
                  <c:v>24.0</c:v>
                </c:pt>
                <c:pt idx="235">
                  <c:v>58.0</c:v>
                </c:pt>
                <c:pt idx="236">
                  <c:v>64.0</c:v>
                </c:pt>
                <c:pt idx="237">
                  <c:v>109.0</c:v>
                </c:pt>
                <c:pt idx="238">
                  <c:v>147.0</c:v>
                </c:pt>
                <c:pt idx="239">
                  <c:v>168.0</c:v>
                </c:pt>
                <c:pt idx="240">
                  <c:v>295.0</c:v>
                </c:pt>
                <c:pt idx="241">
                  <c:v>567.0</c:v>
                </c:pt>
                <c:pt idx="242">
                  <c:v>815.0</c:v>
                </c:pt>
                <c:pt idx="243">
                  <c:v>1371.0</c:v>
                </c:pt>
                <c:pt idx="244">
                  <c:v>2082.0</c:v>
                </c:pt>
                <c:pt idx="245">
                  <c:v>2929.0</c:v>
                </c:pt>
                <c:pt idx="246">
                  <c:v>2639.0</c:v>
                </c:pt>
                <c:pt idx="247">
                  <c:v>1769.0</c:v>
                </c:pt>
                <c:pt idx="248">
                  <c:v>1882.0</c:v>
                </c:pt>
                <c:pt idx="249">
                  <c:v>2140.0</c:v>
                </c:pt>
                <c:pt idx="250">
                  <c:v>1585.0</c:v>
                </c:pt>
                <c:pt idx="251">
                  <c:v>986.0</c:v>
                </c:pt>
                <c:pt idx="252">
                  <c:v>996.0</c:v>
                </c:pt>
                <c:pt idx="253">
                  <c:v>768.0</c:v>
                </c:pt>
                <c:pt idx="254">
                  <c:v>464.0</c:v>
                </c:pt>
                <c:pt idx="255">
                  <c:v>287.0</c:v>
                </c:pt>
                <c:pt idx="256">
                  <c:v>204.0</c:v>
                </c:pt>
                <c:pt idx="257">
                  <c:v>162.0</c:v>
                </c:pt>
                <c:pt idx="258">
                  <c:v>86.0</c:v>
                </c:pt>
                <c:pt idx="259">
                  <c:v>80.0</c:v>
                </c:pt>
                <c:pt idx="260">
                  <c:v>71.0</c:v>
                </c:pt>
                <c:pt idx="261">
                  <c:v>48.0</c:v>
                </c:pt>
                <c:pt idx="262">
                  <c:v>24.0</c:v>
                </c:pt>
                <c:pt idx="263">
                  <c:v>21.0</c:v>
                </c:pt>
                <c:pt idx="264">
                  <c:v>24.0</c:v>
                </c:pt>
                <c:pt idx="265">
                  <c:v>21.0</c:v>
                </c:pt>
                <c:pt idx="266">
                  <c:v>16.0</c:v>
                </c:pt>
                <c:pt idx="267">
                  <c:v>33.0</c:v>
                </c:pt>
                <c:pt idx="268">
                  <c:v>37.0</c:v>
                </c:pt>
                <c:pt idx="269">
                  <c:v>39.0</c:v>
                </c:pt>
                <c:pt idx="270">
                  <c:v>61.0</c:v>
                </c:pt>
                <c:pt idx="271">
                  <c:v>44.0</c:v>
                </c:pt>
                <c:pt idx="272">
                  <c:v>31.0</c:v>
                </c:pt>
                <c:pt idx="273">
                  <c:v>51.0</c:v>
                </c:pt>
                <c:pt idx="274">
                  <c:v>29.0</c:v>
                </c:pt>
                <c:pt idx="275">
                  <c:v>20.0</c:v>
                </c:pt>
                <c:pt idx="276">
                  <c:v>31.0</c:v>
                </c:pt>
                <c:pt idx="277">
                  <c:v>35.0</c:v>
                </c:pt>
                <c:pt idx="278">
                  <c:v>21.0</c:v>
                </c:pt>
                <c:pt idx="279">
                  <c:v>31.0</c:v>
                </c:pt>
                <c:pt idx="280">
                  <c:v>33.0</c:v>
                </c:pt>
                <c:pt idx="281">
                  <c:v>23.0</c:v>
                </c:pt>
                <c:pt idx="282">
                  <c:v>18.0</c:v>
                </c:pt>
                <c:pt idx="283">
                  <c:v>36.0</c:v>
                </c:pt>
                <c:pt idx="284">
                  <c:v>61.0</c:v>
                </c:pt>
                <c:pt idx="285">
                  <c:v>125.0</c:v>
                </c:pt>
                <c:pt idx="286">
                  <c:v>122.0</c:v>
                </c:pt>
                <c:pt idx="287">
                  <c:v>202.0</c:v>
                </c:pt>
                <c:pt idx="288">
                  <c:v>275.0</c:v>
                </c:pt>
                <c:pt idx="289">
                  <c:v>340.0</c:v>
                </c:pt>
                <c:pt idx="290">
                  <c:v>673.0</c:v>
                </c:pt>
                <c:pt idx="291">
                  <c:v>876.0</c:v>
                </c:pt>
                <c:pt idx="292">
                  <c:v>983.0</c:v>
                </c:pt>
                <c:pt idx="293">
                  <c:v>1114.0</c:v>
                </c:pt>
                <c:pt idx="294">
                  <c:v>1386.0</c:v>
                </c:pt>
                <c:pt idx="295">
                  <c:v>1304.0</c:v>
                </c:pt>
                <c:pt idx="296">
                  <c:v>1156.0</c:v>
                </c:pt>
                <c:pt idx="297">
                  <c:v>1418.0</c:v>
                </c:pt>
                <c:pt idx="298">
                  <c:v>1365.0</c:v>
                </c:pt>
                <c:pt idx="299">
                  <c:v>1619.0</c:v>
                </c:pt>
                <c:pt idx="300">
                  <c:v>1755.0</c:v>
                </c:pt>
                <c:pt idx="301">
                  <c:v>1580.0</c:v>
                </c:pt>
                <c:pt idx="302">
                  <c:v>1251.0</c:v>
                </c:pt>
                <c:pt idx="303">
                  <c:v>973.0</c:v>
                </c:pt>
                <c:pt idx="304">
                  <c:v>634.0</c:v>
                </c:pt>
                <c:pt idx="305">
                  <c:v>634.0</c:v>
                </c:pt>
                <c:pt idx="306">
                  <c:v>350.0</c:v>
                </c:pt>
                <c:pt idx="307">
                  <c:v>354.0</c:v>
                </c:pt>
                <c:pt idx="308">
                  <c:v>256.0</c:v>
                </c:pt>
                <c:pt idx="309">
                  <c:v>159.0</c:v>
                </c:pt>
                <c:pt idx="310">
                  <c:v>136.0</c:v>
                </c:pt>
                <c:pt idx="311">
                  <c:v>109.0</c:v>
                </c:pt>
                <c:pt idx="312">
                  <c:v>51.0</c:v>
                </c:pt>
                <c:pt idx="313">
                  <c:v>31.0</c:v>
                </c:pt>
                <c:pt idx="314">
                  <c:v>57.0</c:v>
                </c:pt>
                <c:pt idx="315">
                  <c:v>39.0</c:v>
                </c:pt>
                <c:pt idx="316">
                  <c:v>39.0</c:v>
                </c:pt>
                <c:pt idx="317">
                  <c:v>41.0</c:v>
                </c:pt>
                <c:pt idx="318">
                  <c:v>47.0</c:v>
                </c:pt>
                <c:pt idx="319">
                  <c:v>36.0</c:v>
                </c:pt>
                <c:pt idx="320">
                  <c:v>38.0</c:v>
                </c:pt>
                <c:pt idx="321">
                  <c:v>43.0</c:v>
                </c:pt>
                <c:pt idx="328">
                  <c:v>33.0</c:v>
                </c:pt>
                <c:pt idx="329">
                  <c:v>43.0</c:v>
                </c:pt>
                <c:pt idx="330">
                  <c:v>53.0</c:v>
                </c:pt>
                <c:pt idx="331">
                  <c:v>54.0</c:v>
                </c:pt>
                <c:pt idx="332">
                  <c:v>53.0</c:v>
                </c:pt>
                <c:pt idx="333">
                  <c:v>57.0</c:v>
                </c:pt>
                <c:pt idx="334">
                  <c:v>64.0</c:v>
                </c:pt>
                <c:pt idx="335">
                  <c:v>51.0</c:v>
                </c:pt>
                <c:pt idx="336">
                  <c:v>92.0</c:v>
                </c:pt>
                <c:pt idx="337">
                  <c:v>65.0</c:v>
                </c:pt>
                <c:pt idx="338">
                  <c:v>93.0</c:v>
                </c:pt>
                <c:pt idx="339">
                  <c:v>97.0</c:v>
                </c:pt>
                <c:pt idx="340">
                  <c:v>98.0</c:v>
                </c:pt>
                <c:pt idx="341">
                  <c:v>131.0</c:v>
                </c:pt>
                <c:pt idx="342">
                  <c:v>221.0</c:v>
                </c:pt>
                <c:pt idx="343">
                  <c:v>329.0</c:v>
                </c:pt>
                <c:pt idx="344">
                  <c:v>450.0</c:v>
                </c:pt>
                <c:pt idx="345">
                  <c:v>721.0</c:v>
                </c:pt>
                <c:pt idx="346">
                  <c:v>844.0</c:v>
                </c:pt>
                <c:pt idx="347">
                  <c:v>1056.0</c:v>
                </c:pt>
                <c:pt idx="348">
                  <c:v>1498.0</c:v>
                </c:pt>
                <c:pt idx="349">
                  <c:v>1983.0</c:v>
                </c:pt>
                <c:pt idx="350">
                  <c:v>2323.0</c:v>
                </c:pt>
                <c:pt idx="351">
                  <c:v>2197.0</c:v>
                </c:pt>
                <c:pt idx="352">
                  <c:v>2332.0</c:v>
                </c:pt>
                <c:pt idx="353">
                  <c:v>2279.0</c:v>
                </c:pt>
                <c:pt idx="354">
                  <c:v>2602.0</c:v>
                </c:pt>
                <c:pt idx="355">
                  <c:v>2265.0</c:v>
                </c:pt>
                <c:pt idx="356">
                  <c:v>1555.0</c:v>
                </c:pt>
                <c:pt idx="357">
                  <c:v>1734.0</c:v>
                </c:pt>
                <c:pt idx="358">
                  <c:v>1442.0</c:v>
                </c:pt>
                <c:pt idx="359">
                  <c:v>874.0</c:v>
                </c:pt>
                <c:pt idx="360">
                  <c:v>524.0</c:v>
                </c:pt>
                <c:pt idx="361">
                  <c:v>245.0</c:v>
                </c:pt>
                <c:pt idx="362">
                  <c:v>149.0</c:v>
                </c:pt>
                <c:pt idx="363">
                  <c:v>103.0</c:v>
                </c:pt>
                <c:pt idx="364">
                  <c:v>111.0</c:v>
                </c:pt>
                <c:pt idx="372">
                  <c:v>60.0</c:v>
                </c:pt>
                <c:pt idx="373">
                  <c:v>64.0</c:v>
                </c:pt>
                <c:pt idx="374">
                  <c:v>69.0</c:v>
                </c:pt>
                <c:pt idx="375">
                  <c:v>30.0</c:v>
                </c:pt>
                <c:pt idx="376">
                  <c:v>22.0</c:v>
                </c:pt>
                <c:pt idx="377">
                  <c:v>37.0</c:v>
                </c:pt>
                <c:pt idx="378">
                  <c:v>40.0</c:v>
                </c:pt>
                <c:pt idx="379">
                  <c:v>33.0</c:v>
                </c:pt>
                <c:pt idx="380">
                  <c:v>29.0</c:v>
                </c:pt>
                <c:pt idx="381">
                  <c:v>35.0</c:v>
                </c:pt>
                <c:pt idx="382">
                  <c:v>31.0</c:v>
                </c:pt>
                <c:pt idx="383">
                  <c:v>33.0</c:v>
                </c:pt>
                <c:pt idx="384">
                  <c:v>45.0</c:v>
                </c:pt>
                <c:pt idx="385">
                  <c:v>45.0</c:v>
                </c:pt>
                <c:pt idx="386">
                  <c:v>44.0</c:v>
                </c:pt>
                <c:pt idx="387">
                  <c:v>53.0</c:v>
                </c:pt>
                <c:pt idx="388">
                  <c:v>65.0</c:v>
                </c:pt>
                <c:pt idx="389">
                  <c:v>81.0</c:v>
                </c:pt>
                <c:pt idx="390">
                  <c:v>72.0</c:v>
                </c:pt>
                <c:pt idx="391">
                  <c:v>62.0</c:v>
                </c:pt>
                <c:pt idx="392">
                  <c:v>85.0</c:v>
                </c:pt>
                <c:pt idx="393">
                  <c:v>108.0</c:v>
                </c:pt>
                <c:pt idx="394">
                  <c:v>136.0</c:v>
                </c:pt>
                <c:pt idx="395">
                  <c:v>138.0</c:v>
                </c:pt>
                <c:pt idx="396">
                  <c:v>156.0</c:v>
                </c:pt>
                <c:pt idx="397">
                  <c:v>208.0</c:v>
                </c:pt>
                <c:pt idx="398">
                  <c:v>230.0</c:v>
                </c:pt>
                <c:pt idx="399">
                  <c:v>269.0</c:v>
                </c:pt>
                <c:pt idx="400">
                  <c:v>263.0</c:v>
                </c:pt>
                <c:pt idx="401">
                  <c:v>322.0</c:v>
                </c:pt>
                <c:pt idx="402">
                  <c:v>344.0</c:v>
                </c:pt>
                <c:pt idx="403">
                  <c:v>274.0</c:v>
                </c:pt>
                <c:pt idx="404">
                  <c:v>236.0</c:v>
                </c:pt>
                <c:pt idx="405">
                  <c:v>478.0</c:v>
                </c:pt>
                <c:pt idx="406">
                  <c:v>334.0</c:v>
                </c:pt>
                <c:pt idx="407">
                  <c:v>246.0</c:v>
                </c:pt>
                <c:pt idx="408">
                  <c:v>398.0</c:v>
                </c:pt>
                <c:pt idx="409">
                  <c:v>204.0</c:v>
                </c:pt>
                <c:pt idx="410">
                  <c:v>190.0</c:v>
                </c:pt>
                <c:pt idx="411">
                  <c:v>138.0</c:v>
                </c:pt>
                <c:pt idx="412">
                  <c:v>87.0</c:v>
                </c:pt>
                <c:pt idx="413">
                  <c:v>129.0</c:v>
                </c:pt>
                <c:pt idx="414">
                  <c:v>57.0</c:v>
                </c:pt>
                <c:pt idx="415">
                  <c:v>45.0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FE4E0"/>
            </a:solidFill>
          </a:ln>
        </c:spPr>
        <c:txPr>
          <a:bodyPr/>
          <a:lstStyle/>
          <a:p>
            <a:pPr>
              <a:defRPr sz="1200">
                <a:solidFill>
                  <a:srgbClr val="4D5853"/>
                </a:solidFill>
              </a:defRPr>
            </a:pPr>
          </a:p>
        </c:txPr>
        <c:crossAx val="2140495176"/>
        <c:crosses val="autoZero"/>
        <c:auto val="1"/>
        <c:lblAlgn val="ctr"/>
        <c:lblOffset val="100"/>
        <c:tickLblSkip val="1"/>
        <c:tickMarkSkip val="52"/>
        <c:noMultiLvlLbl val="0"/>
      </c:catAx>
      <c:valAx>
        <c:axId val="2140495176"/>
        <c:scaling/>
        <c:delete val="0"/>
        <c:axPos val="l"/>
        <c:majorGridlines>
          <c:spPr>
            <a:ln>
              <a:solidFill>
                <a:srgbClr val="DFE4E0"/>
              </a:solidFill>
            </a:ln>
          </c:spPr>
        </c:majorGridlines>
        <c:numFmt formatCode="#,##0" sourceLinked="0"/>
        <c:majorTickMark val="out"/>
        <c:minorTickMark val="none"/>
        <c:tickLblPos val="nextTo"/>
        <c:spPr>
          <a:ln>
            <a:noFill/>
          </a:ln>
        </c:spPr>
        <c:txPr>
          <a:bodyPr/>
          <a:lstStyle/>
          <a:p>
            <a:pPr>
              <a:defRPr sz="1200">
                <a:solidFill>
                  <a:srgbClr val="4D5853"/>
                </a:solidFill>
              </a:defRPr>
            </a:pPr>
          </a:p>
        </c:txPr>
        <c:crossAx val="2118791784"/>
        <c:crosses val="autoZero"/>
      </c:valAx>
    </c:plotArea>
    <c:plotVisOnly val="1"/>
    <c:dispBlanksAs val="gap"/>
    <c:showDLblsOverMax val="0"/>
  </c:chart>
  <c:txPr>
    <a:bodyPr/>
    <a:lstStyle/>
    <a:p>
      <a:pPr>
        <a:defRPr sz="1200">
          <a:solidFill>
            <a:srgbClr val="4D585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Pause, smile, then start with the monsoon.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year, the monsoon arrives in Nepal. It brings water to the fields, and it brings disease. Diarrhoea from unsafe water. Dengue from mosquitoes breeding in the puddles it leaves behind. In 2022, Nepal recorded more than fifty-four thousand dengue cases, and hospitals ran out of beds.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 asked: does anyone see this coming? Nepal's government does track it. Every week, it publishes a report of new cases from over a hundred hospitals. But those reports tell us what has already happened. By the time a surge appears, the patients are already in the wards.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wondered: could the same reports tell us what is coming next? I collected ten years of them: four hundred and eighty-two weekly reports.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 built a simple statistical model. Think of it as a scoring system. Each week it checks two main clues: how many people are sick right now, and what time of year it is. It learned how much each clue matters from past years. Add up the scores, and you get the chance that a surge begins in the next four weeks: green, orange or 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tested it fairly: it learned only from earlier years, then predicted five years it had never seen.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warned about most surges, about three weeks before they began. And in the big outbreak years, its forecasts were thirty-five to fifty-four per cent more accurate than simply assuming next month will look like this month.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Then I asked: can we do better? I added weather: temperature, rainfall and humidity. It didn't reliably help. Then I tried a more complex machine-learning model, and it did worse. The simple model caught four of six surges with just two false alarms. The complex model caught only two or three, with up to four times as many false alarms, and its forecasts were about forty per cent further off. International research agrees: with limited data, simple models are among the hardest to beat.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repeated this for diarrhoeal disease and found the same thing: weather didn't improve the forecast.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isn't perfect. It missed two surges, and five years of testing is still a short history. Next, I want to go district by district and test it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here is what matters. Nepal already collects the data it needs. With a simple, transparent model, those weekly reports can become a warning: three weeks to prepare beds, blood and staff, before the surge, not after.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Single-slide version for official 3MT rules (one static slide). Use this instead of slides 1–11 if your competition enforces the one-slide rule.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image" Target="../media/image1.pn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image" Target="../media/image1.png"/><Relationship Id="rId4"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B28"/>
        </a:solidFill>
        <a:effectLst/>
      </p:bgPr>
    </p:bg>
    <p:spTree>
      <p:nvGrpSpPr>
        <p:cNvPr id="1" name=""/>
        <p:cNvGrpSpPr/>
        <p:nvPr/>
      </p:nvGrpSpPr>
      <p:grpSpPr/>
      <p:sp>
        <p:nvSpPr>
          <p:cNvPr id="2" name="motif light 1"/>
          <p:cNvSpPr/>
          <p:nvPr/>
        </p:nvSpPr>
        <p:spPr>
          <a:xfrm>
            <a:off x="731520" y="1097280"/>
            <a:ext cx="384048" cy="38404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1243584" y="1097280"/>
            <a:ext cx="384048" cy="38404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755648" y="1097280"/>
            <a:ext cx="384048" cy="38404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731520" y="1828800"/>
            <a:ext cx="7863840" cy="1463040"/>
          </a:xfrm>
          <a:prstGeom prst="rect">
            <a:avLst/>
          </a:prstGeom>
          <a:noFill/>
        </p:spPr>
        <p:txBody>
          <a:bodyPr wrap="square" lIns="0" rIns="0" tIns="0" bIns="0" anchor="t">
            <a:spAutoFit/>
          </a:bodyPr>
          <a:lstStyle/>
          <a:p>
            <a:pPr algn="l">
              <a:lnSpc>
                <a:spcPct val="110000"/>
              </a:lnSpc>
            </a:pPr>
            <a:r>
              <a:rPr sz="5400" b="1" i="0">
                <a:solidFill>
                  <a:srgbClr val="FFFFFF"/>
                </a:solidFill>
                <a:latin typeface="Cambria"/>
              </a:rPr>
              <a:t>MonsoonWatch Nepal</a:t>
            </a:r>
          </a:p>
        </p:txBody>
      </p:sp>
      <p:sp>
        <p:nvSpPr>
          <p:cNvPr id="6" name="TextBox 5"/>
          <p:cNvSpPr txBox="1"/>
          <p:nvPr/>
        </p:nvSpPr>
        <p:spPr>
          <a:xfrm>
            <a:off x="731520" y="3154680"/>
            <a:ext cx="7498079" cy="1097280"/>
          </a:xfrm>
          <a:prstGeom prst="rect">
            <a:avLst/>
          </a:prstGeom>
          <a:noFill/>
        </p:spPr>
        <p:txBody>
          <a:bodyPr wrap="square" lIns="0" rIns="0" tIns="0" bIns="0" anchor="t">
            <a:spAutoFit/>
          </a:bodyPr>
          <a:lstStyle/>
          <a:p>
            <a:pPr algn="l">
              <a:lnSpc>
                <a:spcPct val="115000"/>
              </a:lnSpc>
            </a:pPr>
            <a:r>
              <a:rPr sz="2400" b="0" i="0">
                <a:solidFill>
                  <a:srgbClr val="DCEFEC"/>
                </a:solidFill>
                <a:latin typeface="Calibri"/>
              </a:rPr>
              <a:t>A 3-week warning for dengue surges, built from reports Nepal already publishes</a:t>
            </a:r>
          </a:p>
        </p:txBody>
      </p:sp>
      <p:sp>
        <p:nvSpPr>
          <p:cNvPr id="7" name="TextBox 6"/>
          <p:cNvSpPr txBox="1"/>
          <p:nvPr/>
        </p:nvSpPr>
        <p:spPr>
          <a:xfrm>
            <a:off x="731520" y="5120640"/>
            <a:ext cx="6858000" cy="731520"/>
          </a:xfrm>
          <a:prstGeom prst="rect">
            <a:avLst/>
          </a:prstGeom>
          <a:noFill/>
        </p:spPr>
        <p:txBody>
          <a:bodyPr wrap="square" lIns="0" rIns="0" tIns="0" bIns="0" anchor="t">
            <a:spAutoFit/>
          </a:bodyPr>
          <a:lstStyle/>
          <a:p>
            <a:pPr algn="l">
              <a:lnSpc>
                <a:spcPct val="110000"/>
              </a:lnSpc>
            </a:pPr>
            <a:r>
              <a:rPr sz="1600" b="1" i="0">
                <a:solidFill>
                  <a:srgbClr val="FFFFFF"/>
                </a:solidFill>
                <a:latin typeface="Calibri"/>
              </a:rPr>
              <a:t>Pratyush</a:t>
            </a:r>
          </a:p>
          <a:p>
            <a:pPr algn="l">
              <a:lnSpc>
                <a:spcPct val="110000"/>
              </a:lnSpc>
            </a:pPr>
            <a:r>
              <a:rPr sz="1600" b="0" i="0">
                <a:solidFill>
                  <a:srgbClr val="FFFFFF"/>
                </a:solidFill>
                <a:latin typeface="Calibri"/>
              </a:rPr>
              <a:t>Macquarie University</a:t>
            </a:r>
          </a:p>
        </p:txBody>
      </p:sp>
      <p:sp>
        <p:nvSpPr>
          <p:cNvPr id="8" name="QR card"/>
          <p:cNvSpPr/>
          <p:nvPr/>
        </p:nvSpPr>
        <p:spPr>
          <a:xfrm>
            <a:off x="8732520" y="1463040"/>
            <a:ext cx="2834640" cy="34290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Demo QR" descr="qr.png"/>
          <p:cNvPicPr>
            <a:picLocks noChangeAspect="1"/>
          </p:cNvPicPr>
          <p:nvPr/>
        </p:nvPicPr>
        <p:blipFill>
          <a:blip r:embed="rId2"/>
          <a:stretch>
            <a:fillRect/>
          </a:stretch>
        </p:blipFill>
        <p:spPr>
          <a:xfrm>
            <a:off x="8915400" y="1600200"/>
            <a:ext cx="2468880" cy="2468880"/>
          </a:xfrm>
          <a:prstGeom prst="rect">
            <a:avLst/>
          </a:prstGeom>
        </p:spPr>
      </p:pic>
      <p:sp>
        <p:nvSpPr>
          <p:cNvPr id="10" name="TextBox 9"/>
          <p:cNvSpPr txBox="1"/>
          <p:nvPr/>
        </p:nvSpPr>
        <p:spPr>
          <a:xfrm>
            <a:off x="8732520" y="4114800"/>
            <a:ext cx="2834640" cy="685800"/>
          </a:xfrm>
          <a:prstGeom prst="rect">
            <a:avLst/>
          </a:prstGeom>
          <a:noFill/>
        </p:spPr>
        <p:txBody>
          <a:bodyPr wrap="square" lIns="0" rIns="0" tIns="0" bIns="0" anchor="t">
            <a:spAutoFit/>
          </a:bodyPr>
          <a:lstStyle/>
          <a:p>
            <a:pPr algn="ctr">
              <a:lnSpc>
                <a:spcPct val="110000"/>
              </a:lnSpc>
            </a:pPr>
            <a:r>
              <a:rPr sz="1400" b="1" i="0">
                <a:solidFill>
                  <a:srgbClr val="18211E"/>
                </a:solidFill>
                <a:latin typeface="Calibri"/>
              </a:rPr>
              <a:t>Scan to try the demo</a:t>
            </a:r>
          </a:p>
          <a:p>
            <a:pPr algn="ctr">
              <a:lnSpc>
                <a:spcPct val="110000"/>
              </a:lnSpc>
            </a:pPr>
            <a:r>
              <a:rPr sz="1100" b="0" i="0">
                <a:solidFill>
                  <a:srgbClr val="4D5853"/>
                </a:solidFill>
                <a:latin typeface="Calibri"/>
              </a:rPr>
              <a:t>monsoonwatch-nepal.streamlit.app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Every monsoon brings disease</a:t>
            </a:r>
          </a:p>
        </p:txBody>
      </p:sp>
      <p:sp>
        <p:nvSpPr>
          <p:cNvPr id="6" name="Big number"/>
          <p:cNvSpPr txBox="1"/>
          <p:nvPr/>
        </p:nvSpPr>
        <p:spPr>
          <a:xfrm>
            <a:off x="548640" y="1600200"/>
            <a:ext cx="3291840" cy="1097280"/>
          </a:xfrm>
          <a:prstGeom prst="rect">
            <a:avLst/>
          </a:prstGeom>
          <a:noFill/>
        </p:spPr>
        <p:txBody>
          <a:bodyPr wrap="square" lIns="0" rIns="0" tIns="0" bIns="0" anchor="t">
            <a:spAutoFit/>
          </a:bodyPr>
          <a:lstStyle/>
          <a:p>
            <a:pPr algn="l">
              <a:lnSpc>
                <a:spcPct val="110000"/>
              </a:lnSpc>
            </a:pPr>
            <a:r>
              <a:rPr sz="6000" b="1" i="0">
                <a:solidFill>
                  <a:srgbClr val="EB6834"/>
                </a:solidFill>
                <a:latin typeface="Cambria"/>
              </a:rPr>
              <a:t>54,000+</a:t>
            </a:r>
          </a:p>
        </p:txBody>
      </p:sp>
      <p:sp>
        <p:nvSpPr>
          <p:cNvPr id="7" name="TextBox 6"/>
          <p:cNvSpPr txBox="1"/>
          <p:nvPr/>
        </p:nvSpPr>
        <p:spPr>
          <a:xfrm>
            <a:off x="548640" y="2651760"/>
            <a:ext cx="3291840" cy="822960"/>
          </a:xfrm>
          <a:prstGeom prst="rect">
            <a:avLst/>
          </a:prstGeom>
          <a:noFill/>
        </p:spPr>
        <p:txBody>
          <a:bodyPr wrap="square" lIns="0" rIns="0" tIns="0" bIns="0" anchor="t">
            <a:spAutoFit/>
          </a:bodyPr>
          <a:lstStyle/>
          <a:p>
            <a:pPr algn="l">
              <a:lnSpc>
                <a:spcPct val="110000"/>
              </a:lnSpc>
            </a:pPr>
            <a:r>
              <a:rPr sz="2000" b="0" i="0">
                <a:solidFill>
                  <a:srgbClr val="18211E"/>
                </a:solidFill>
                <a:latin typeface="Calibri"/>
              </a:rPr>
              <a:t>dengue cases in Nepal in 2022</a:t>
            </a:r>
          </a:p>
        </p:txBody>
      </p:sp>
      <p:sp>
        <p:nvSpPr>
          <p:cNvPr id="8" name="TextBox 7"/>
          <p:cNvSpPr txBox="1"/>
          <p:nvPr/>
        </p:nvSpPr>
        <p:spPr>
          <a:xfrm>
            <a:off x="548640" y="3520440"/>
            <a:ext cx="3200400" cy="1737360"/>
          </a:xfrm>
          <a:prstGeom prst="rect">
            <a:avLst/>
          </a:prstGeom>
          <a:noFill/>
        </p:spPr>
        <p:txBody>
          <a:bodyPr wrap="square" lIns="0" rIns="0" tIns="0" bIns="0" anchor="t">
            <a:spAutoFit/>
          </a:bodyPr>
          <a:lstStyle/>
          <a:p>
            <a:pPr algn="l">
              <a:lnSpc>
                <a:spcPct val="120000"/>
              </a:lnSpc>
            </a:pPr>
            <a:r>
              <a:rPr sz="1800" b="0" i="0">
                <a:solidFill>
                  <a:srgbClr val="18211E"/>
                </a:solidFill>
                <a:latin typeface="Calibri"/>
              </a:rPr>
              <a:t>Hospitals ran out of beds.</a:t>
            </a:r>
          </a:p>
          <a:p>
            <a:pPr algn="l">
              <a:lnSpc>
                <a:spcPct val="120000"/>
              </a:lnSpc>
            </a:pPr>
            <a:r>
              <a:rPr sz="1500" b="0" i="0">
                <a:solidFill>
                  <a:srgbClr val="4D5853"/>
                </a:solidFill>
                <a:latin typeface="Calibri"/>
              </a:rPr>
              <a:t>Dengue spreads through mosquitoes. Diarrhoea spreads through unsafe water. Both rise after the monsoon.</a:t>
            </a:r>
          </a:p>
        </p:txBody>
      </p:sp>
      <p:graphicFrame>
        <p:nvGraphicFramePr>
          <p:cNvPr id="9" name="Weekly cases chart"/>
          <p:cNvGraphicFramePr>
            <a:graphicFrameLocks noGrp="1"/>
          </p:cNvGraphicFramePr>
          <p:nvPr/>
        </p:nvGraphicFramePr>
        <p:xfrm>
          <a:off x="4114800" y="1463040"/>
          <a:ext cx="6400800" cy="4023360"/>
        </p:xfrm>
        <a:graphic>
          <a:graphicData uri="http://schemas.openxmlformats.org/drawingml/2006/chart">
            <c:chart xmlns:c="http://schemas.openxmlformats.org/drawingml/2006/chart" r:id="rId2"/>
          </a:graphicData>
        </a:graphic>
      </p:graphicFrame>
      <p:sp>
        <p:nvSpPr>
          <p:cNvPr id="10" name="TextBox 9"/>
          <p:cNvSpPr txBox="1"/>
          <p:nvPr/>
        </p:nvSpPr>
        <p:spPr>
          <a:xfrm>
            <a:off x="4114800" y="5577840"/>
            <a:ext cx="6400800" cy="365760"/>
          </a:xfrm>
          <a:prstGeom prst="rect">
            <a:avLst/>
          </a:prstGeom>
          <a:noFill/>
        </p:spPr>
        <p:txBody>
          <a:bodyPr wrap="square" lIns="0" rIns="0" tIns="0" bIns="0" anchor="t">
            <a:spAutoFit/>
          </a:bodyPr>
          <a:lstStyle/>
          <a:p>
            <a:pPr algn="l">
              <a:lnSpc>
                <a:spcPct val="110000"/>
              </a:lnSpc>
            </a:pPr>
            <a:r>
              <a:rPr sz="1100" b="0" i="0">
                <a:solidFill>
                  <a:srgbClr val="4D5853"/>
                </a:solidFill>
                <a:latin typeface="Calibri"/>
              </a:rPr>
              <a:t>Source: weekly disease reports, Epidemiology and Disease Control Division, Nepal (2018–2025)</a:t>
            </a:r>
          </a:p>
        </p:txBody>
      </p:sp>
      <p:sp>
        <p:nvSpPr>
          <p:cNvPr id="11"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Demo QR" descr="qr.png"/>
          <p:cNvPicPr>
            <a:picLocks noChangeAspect="1"/>
          </p:cNvPicPr>
          <p:nvPr/>
        </p:nvPicPr>
        <p:blipFill>
          <a:blip r:embed="rId3"/>
          <a:stretch>
            <a:fillRect/>
          </a:stretch>
        </p:blipFill>
        <p:spPr>
          <a:xfrm>
            <a:off x="10853928" y="5138928"/>
            <a:ext cx="996696" cy="996696"/>
          </a:xfrm>
          <a:prstGeom prst="rect">
            <a:avLst/>
          </a:prstGeom>
        </p:spPr>
      </p:pic>
      <p:sp>
        <p:nvSpPr>
          <p:cNvPr id="13" name="TextBox 12"/>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The reports arrive after the surge</a:t>
            </a:r>
          </a:p>
        </p:txBody>
      </p:sp>
      <p:sp>
        <p:nvSpPr>
          <p:cNvPr id="6" name="TextBox 5"/>
          <p:cNvSpPr txBox="1"/>
          <p:nvPr/>
        </p:nvSpPr>
        <p:spPr>
          <a:xfrm>
            <a:off x="548640" y="1463040"/>
            <a:ext cx="9875520" cy="822960"/>
          </a:xfrm>
          <a:prstGeom prst="rect">
            <a:avLst/>
          </a:prstGeom>
          <a:noFill/>
        </p:spPr>
        <p:txBody>
          <a:bodyPr wrap="square" lIns="0" rIns="0" tIns="0" bIns="0" anchor="t">
            <a:spAutoFit/>
          </a:bodyPr>
          <a:lstStyle/>
          <a:p>
            <a:pPr algn="l">
              <a:lnSpc>
                <a:spcPct val="120000"/>
              </a:lnSpc>
            </a:pPr>
            <a:r>
              <a:rPr sz="1800" b="0" i="0">
                <a:solidFill>
                  <a:srgbClr val="4D5853"/>
                </a:solidFill>
                <a:latin typeface="Calibri"/>
              </a:rPr>
              <a:t>Nepal's health office publishes a weekly report of new cases from over 100 hospitals. But it shows what has already happened.</a:t>
            </a:r>
          </a:p>
        </p:txBody>
      </p:sp>
      <p:cxnSp>
        <p:nvCxnSpPr>
          <p:cNvPr id="7" name="Connector 6"/>
          <p:cNvCxnSpPr/>
          <p:nvPr/>
        </p:nvCxnSpPr>
        <p:spPr>
          <a:xfrm>
            <a:off x="822960" y="3383280"/>
            <a:ext cx="9235440" cy="0"/>
          </a:xfrm>
          <a:prstGeom prst="line">
            <a:avLst/>
          </a:prstGeom>
          <a:ln w="38100">
            <a:solidFill>
              <a:srgbClr val="DFE4E0"/>
            </a:solidFill>
          </a:ln>
        </p:spPr>
        <p:style>
          <a:lnRef idx="2">
            <a:schemeClr val="accent1"/>
          </a:lnRef>
          <a:fillRef idx="0">
            <a:schemeClr val="accent1"/>
          </a:fillRef>
          <a:effectRef idx="1">
            <a:schemeClr val="accent1"/>
          </a:effectRef>
          <a:fontRef idx="minor">
            <a:schemeClr val="tx1"/>
          </a:fontRef>
        </p:style>
      </p:cxnSp>
      <p:sp>
        <p:nvSpPr>
          <p:cNvPr id="8" name="timeline dot 1"/>
          <p:cNvSpPr/>
          <p:nvPr/>
        </p:nvSpPr>
        <p:spPr>
          <a:xfrm>
            <a:off x="2560320" y="3154680"/>
            <a:ext cx="457200" cy="457200"/>
          </a:xfrm>
          <a:prstGeom prst="ellipse">
            <a:avLst/>
          </a:prstGeom>
          <a:solidFill>
            <a:srgbClr val="4D5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463039" y="2468880"/>
            <a:ext cx="2651760" cy="45720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Week 0</a:t>
            </a:r>
          </a:p>
        </p:txBody>
      </p:sp>
      <p:sp>
        <p:nvSpPr>
          <p:cNvPr id="10" name="TextBox 9"/>
          <p:cNvSpPr txBox="1"/>
          <p:nvPr/>
        </p:nvSpPr>
        <p:spPr>
          <a:xfrm>
            <a:off x="1463039" y="3749039"/>
            <a:ext cx="2651760" cy="731520"/>
          </a:xfrm>
          <a:prstGeom prst="rect">
            <a:avLst/>
          </a:prstGeom>
          <a:noFill/>
        </p:spPr>
        <p:txBody>
          <a:bodyPr wrap="square" lIns="0" rIns="0" tIns="0" bIns="0" anchor="t">
            <a:spAutoFit/>
          </a:bodyPr>
          <a:lstStyle/>
          <a:p>
            <a:pPr algn="ctr">
              <a:lnSpc>
                <a:spcPct val="110000"/>
              </a:lnSpc>
            </a:pPr>
            <a:r>
              <a:rPr sz="1800" b="0" i="0">
                <a:solidFill>
                  <a:srgbClr val="18211E"/>
                </a:solidFill>
                <a:latin typeface="Calibri"/>
              </a:rPr>
              <a:t>Surge starts</a:t>
            </a:r>
          </a:p>
        </p:txBody>
      </p:sp>
      <p:sp>
        <p:nvSpPr>
          <p:cNvPr id="11" name="timeline dot 2"/>
          <p:cNvSpPr/>
          <p:nvPr/>
        </p:nvSpPr>
        <p:spPr>
          <a:xfrm>
            <a:off x="5852160" y="3154680"/>
            <a:ext cx="457200" cy="457200"/>
          </a:xfrm>
          <a:prstGeom prst="ellipse">
            <a:avLst/>
          </a:prstGeom>
          <a:solidFill>
            <a:srgbClr val="4D58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0" y="2468880"/>
            <a:ext cx="2651760" cy="45720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Week 1–2</a:t>
            </a:r>
          </a:p>
        </p:txBody>
      </p:sp>
      <p:sp>
        <p:nvSpPr>
          <p:cNvPr id="13" name="TextBox 12"/>
          <p:cNvSpPr txBox="1"/>
          <p:nvPr/>
        </p:nvSpPr>
        <p:spPr>
          <a:xfrm>
            <a:off x="4754880" y="3749039"/>
            <a:ext cx="2651760" cy="731520"/>
          </a:xfrm>
          <a:prstGeom prst="rect">
            <a:avLst/>
          </a:prstGeom>
          <a:noFill/>
        </p:spPr>
        <p:txBody>
          <a:bodyPr wrap="square" lIns="0" rIns="0" tIns="0" bIns="0" anchor="t">
            <a:spAutoFit/>
          </a:bodyPr>
          <a:lstStyle/>
          <a:p>
            <a:pPr algn="ctr">
              <a:lnSpc>
                <a:spcPct val="110000"/>
              </a:lnSpc>
            </a:pPr>
            <a:r>
              <a:rPr sz="1800" b="0" i="0">
                <a:solidFill>
                  <a:srgbClr val="18211E"/>
                </a:solidFill>
                <a:latin typeface="Calibri"/>
              </a:rPr>
              <a:t>Patients fill the wards</a:t>
            </a:r>
          </a:p>
        </p:txBody>
      </p:sp>
      <p:sp>
        <p:nvSpPr>
          <p:cNvPr id="14" name="timeline dot 3"/>
          <p:cNvSpPr/>
          <p:nvPr/>
        </p:nvSpPr>
        <p:spPr>
          <a:xfrm>
            <a:off x="9144000" y="3154680"/>
            <a:ext cx="457200" cy="4572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0" y="2468880"/>
            <a:ext cx="2651760" cy="45720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Week 2–3</a:t>
            </a:r>
          </a:p>
        </p:txBody>
      </p:sp>
      <p:sp>
        <p:nvSpPr>
          <p:cNvPr id="16" name="TextBox 15"/>
          <p:cNvSpPr txBox="1"/>
          <p:nvPr/>
        </p:nvSpPr>
        <p:spPr>
          <a:xfrm>
            <a:off x="8046720" y="3749039"/>
            <a:ext cx="2651760" cy="731520"/>
          </a:xfrm>
          <a:prstGeom prst="rect">
            <a:avLst/>
          </a:prstGeom>
          <a:noFill/>
        </p:spPr>
        <p:txBody>
          <a:bodyPr wrap="square" lIns="0" rIns="0" tIns="0" bIns="0" anchor="t">
            <a:spAutoFit/>
          </a:bodyPr>
          <a:lstStyle/>
          <a:p>
            <a:pPr algn="ctr">
              <a:lnSpc>
                <a:spcPct val="110000"/>
              </a:lnSpc>
            </a:pPr>
            <a:r>
              <a:rPr sz="1800" b="0" i="0">
                <a:solidFill>
                  <a:srgbClr val="18211E"/>
                </a:solidFill>
                <a:latin typeface="Calibri"/>
              </a:rPr>
              <a:t>Report is published</a:t>
            </a:r>
          </a:p>
        </p:txBody>
      </p:sp>
      <p:sp>
        <p:nvSpPr>
          <p:cNvPr id="17" name="warning dot"/>
          <p:cNvSpPr/>
          <p:nvPr/>
        </p:nvSpPr>
        <p:spPr>
          <a:xfrm>
            <a:off x="822960" y="3154680"/>
            <a:ext cx="457200" cy="457200"/>
          </a:xfrm>
          <a:prstGeom prst="ellipse">
            <a:avLst/>
          </a:prstGeom>
          <a:solidFill>
            <a:srgbClr val="0F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 y="2468880"/>
            <a:ext cx="1463040" cy="457200"/>
          </a:xfrm>
          <a:prstGeom prst="rect">
            <a:avLst/>
          </a:prstGeom>
          <a:noFill/>
        </p:spPr>
        <p:txBody>
          <a:bodyPr wrap="square" lIns="0" rIns="0" tIns="0" bIns="0" anchor="t">
            <a:spAutoFit/>
          </a:bodyPr>
          <a:lstStyle/>
          <a:p>
            <a:pPr algn="ctr">
              <a:lnSpc>
                <a:spcPct val="110000"/>
              </a:lnSpc>
            </a:pPr>
            <a:r>
              <a:rPr sz="1400" b="1" i="0">
                <a:solidFill>
                  <a:srgbClr val="0F7C74"/>
                </a:solidFill>
                <a:latin typeface="Calibri"/>
              </a:rPr>
              <a:t>3 weeks earlier</a:t>
            </a:r>
          </a:p>
        </p:txBody>
      </p:sp>
      <p:sp>
        <p:nvSpPr>
          <p:cNvPr id="19" name="Question card"/>
          <p:cNvSpPr/>
          <p:nvPr/>
        </p:nvSpPr>
        <p:spPr>
          <a:xfrm>
            <a:off x="548640" y="4617720"/>
            <a:ext cx="9875520" cy="914400"/>
          </a:xfrm>
          <a:prstGeom prst="roundRect">
            <a:avLst>
              <a:gd name="adj" fmla="val 8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617720"/>
            <a:ext cx="9418320" cy="914400"/>
          </a:xfrm>
          <a:prstGeom prst="rect">
            <a:avLst/>
          </a:prstGeom>
          <a:noFill/>
        </p:spPr>
        <p:txBody>
          <a:bodyPr wrap="square" lIns="0" rIns="0" tIns="0" bIns="0" anchor="ctr">
            <a:spAutoFit/>
          </a:bodyPr>
          <a:lstStyle/>
          <a:p>
            <a:pPr algn="l">
              <a:lnSpc>
                <a:spcPct val="110000"/>
              </a:lnSpc>
            </a:pPr>
            <a:r>
              <a:rPr sz="2000" b="1" i="0">
                <a:solidFill>
                  <a:srgbClr val="0F7C74"/>
                </a:solidFill>
                <a:latin typeface="Calibri"/>
              </a:rPr>
              <a:t>The question: </a:t>
            </a:r>
            <a:r>
              <a:rPr sz="2000" b="0" i="0">
                <a:solidFill>
                  <a:srgbClr val="18211E"/>
                </a:solidFill>
                <a:latin typeface="Calibri"/>
              </a:rPr>
              <a:t>could the same reports tell us what is coming next?</a:t>
            </a:r>
          </a:p>
        </p:txBody>
      </p:sp>
      <p:sp>
        <p:nvSpPr>
          <p:cNvPr id="21"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Demo QR" descr="qr.png"/>
          <p:cNvPicPr>
            <a:picLocks noChangeAspect="1"/>
          </p:cNvPicPr>
          <p:nvPr/>
        </p:nvPicPr>
        <p:blipFill>
          <a:blip r:embed="rId2"/>
          <a:stretch>
            <a:fillRect/>
          </a:stretch>
        </p:blipFill>
        <p:spPr>
          <a:xfrm>
            <a:off x="10853928" y="5138928"/>
            <a:ext cx="996696" cy="996696"/>
          </a:xfrm>
          <a:prstGeom prst="rect">
            <a:avLst/>
          </a:prstGeom>
        </p:spPr>
      </p:pic>
      <p:sp>
        <p:nvSpPr>
          <p:cNvPr id="23" name="TextBox 22"/>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Ten years of reports, one clean record</a:t>
            </a:r>
          </a:p>
        </p:txBody>
      </p:sp>
      <p:sp>
        <p:nvSpPr>
          <p:cNvPr id="6" name="Stat card 1"/>
          <p:cNvSpPr/>
          <p:nvPr/>
        </p:nvSpPr>
        <p:spPr>
          <a:xfrm>
            <a:off x="548640" y="1645920"/>
            <a:ext cx="3108960" cy="2377440"/>
          </a:xfrm>
          <a:prstGeom prst="roundRect">
            <a:avLst>
              <a:gd name="adj" fmla="val 8000"/>
            </a:avLst>
          </a:prstGeom>
          <a:solidFill>
            <a:srgbClr val="F7F9F8"/>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1828800"/>
            <a:ext cx="2560320" cy="1097280"/>
          </a:xfrm>
          <a:prstGeom prst="rect">
            <a:avLst/>
          </a:prstGeom>
          <a:noFill/>
        </p:spPr>
        <p:txBody>
          <a:bodyPr wrap="square" lIns="0" rIns="0" tIns="0" bIns="0" anchor="t">
            <a:spAutoFit/>
          </a:bodyPr>
          <a:lstStyle/>
          <a:p>
            <a:pPr algn="l">
              <a:lnSpc>
                <a:spcPct val="110000"/>
              </a:lnSpc>
            </a:pPr>
            <a:r>
              <a:rPr sz="6000" b="1" i="0">
                <a:solidFill>
                  <a:srgbClr val="0F7C74"/>
                </a:solidFill>
                <a:latin typeface="Cambria"/>
              </a:rPr>
              <a:t>482</a:t>
            </a:r>
          </a:p>
        </p:txBody>
      </p:sp>
      <p:sp>
        <p:nvSpPr>
          <p:cNvPr id="8" name="TextBox 7"/>
          <p:cNvSpPr txBox="1"/>
          <p:nvPr/>
        </p:nvSpPr>
        <p:spPr>
          <a:xfrm>
            <a:off x="822959" y="2926080"/>
            <a:ext cx="2560320" cy="914400"/>
          </a:xfrm>
          <a:prstGeom prst="rect">
            <a:avLst/>
          </a:prstGeom>
          <a:noFill/>
        </p:spPr>
        <p:txBody>
          <a:bodyPr wrap="square" lIns="0" rIns="0" tIns="0" bIns="0" anchor="t">
            <a:spAutoFit/>
          </a:bodyPr>
          <a:lstStyle/>
          <a:p>
            <a:pPr algn="l">
              <a:lnSpc>
                <a:spcPct val="110000"/>
              </a:lnSpc>
            </a:pPr>
            <a:r>
              <a:rPr sz="1800" b="0" i="0">
                <a:solidFill>
                  <a:srgbClr val="18211E"/>
                </a:solidFill>
                <a:latin typeface="Calibri"/>
              </a:rPr>
              <a:t>weekly reports
collected</a:t>
            </a:r>
          </a:p>
        </p:txBody>
      </p:sp>
      <p:sp>
        <p:nvSpPr>
          <p:cNvPr id="9" name="Stat card 2"/>
          <p:cNvSpPr/>
          <p:nvPr/>
        </p:nvSpPr>
        <p:spPr>
          <a:xfrm>
            <a:off x="3931920" y="1645920"/>
            <a:ext cx="3108960" cy="2377440"/>
          </a:xfrm>
          <a:prstGeom prst="roundRect">
            <a:avLst>
              <a:gd name="adj" fmla="val 8000"/>
            </a:avLst>
          </a:prstGeom>
          <a:solidFill>
            <a:srgbClr val="F7F9F8"/>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828800"/>
            <a:ext cx="2560320" cy="1097280"/>
          </a:xfrm>
          <a:prstGeom prst="rect">
            <a:avLst/>
          </a:prstGeom>
          <a:noFill/>
        </p:spPr>
        <p:txBody>
          <a:bodyPr wrap="square" lIns="0" rIns="0" tIns="0" bIns="0" anchor="t">
            <a:spAutoFit/>
          </a:bodyPr>
          <a:lstStyle/>
          <a:p>
            <a:pPr algn="l">
              <a:lnSpc>
                <a:spcPct val="110000"/>
              </a:lnSpc>
            </a:pPr>
            <a:r>
              <a:rPr sz="6000" b="1" i="0">
                <a:solidFill>
                  <a:srgbClr val="0F7C74"/>
                </a:solidFill>
                <a:latin typeface="Cambria"/>
              </a:rPr>
              <a:t>10</a:t>
            </a:r>
          </a:p>
        </p:txBody>
      </p:sp>
      <p:sp>
        <p:nvSpPr>
          <p:cNvPr id="11" name="TextBox 10"/>
          <p:cNvSpPr txBox="1"/>
          <p:nvPr/>
        </p:nvSpPr>
        <p:spPr>
          <a:xfrm>
            <a:off x="4206240" y="2926080"/>
            <a:ext cx="2560320" cy="914400"/>
          </a:xfrm>
          <a:prstGeom prst="rect">
            <a:avLst/>
          </a:prstGeom>
          <a:noFill/>
        </p:spPr>
        <p:txBody>
          <a:bodyPr wrap="square" lIns="0" rIns="0" tIns="0" bIns="0" anchor="t">
            <a:spAutoFit/>
          </a:bodyPr>
          <a:lstStyle/>
          <a:p>
            <a:pPr algn="l">
              <a:lnSpc>
                <a:spcPct val="110000"/>
              </a:lnSpc>
            </a:pPr>
            <a:r>
              <a:rPr sz="1800" b="0" i="0">
                <a:solidFill>
                  <a:srgbClr val="18211E"/>
                </a:solidFill>
                <a:latin typeface="Calibri"/>
              </a:rPr>
              <a:t>years of data
(2016–2025)</a:t>
            </a:r>
          </a:p>
        </p:txBody>
      </p:sp>
      <p:sp>
        <p:nvSpPr>
          <p:cNvPr id="12" name="Stat card 3"/>
          <p:cNvSpPr/>
          <p:nvPr/>
        </p:nvSpPr>
        <p:spPr>
          <a:xfrm>
            <a:off x="7315200" y="1645920"/>
            <a:ext cx="3108960" cy="2377440"/>
          </a:xfrm>
          <a:prstGeom prst="roundRect">
            <a:avLst>
              <a:gd name="adj" fmla="val 8000"/>
            </a:avLst>
          </a:prstGeom>
          <a:solidFill>
            <a:srgbClr val="F7F9F8"/>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1828800"/>
            <a:ext cx="2560320" cy="1097280"/>
          </a:xfrm>
          <a:prstGeom prst="rect">
            <a:avLst/>
          </a:prstGeom>
          <a:noFill/>
        </p:spPr>
        <p:txBody>
          <a:bodyPr wrap="square" lIns="0" rIns="0" tIns="0" bIns="0" anchor="t">
            <a:spAutoFit/>
          </a:bodyPr>
          <a:lstStyle/>
          <a:p>
            <a:pPr algn="l">
              <a:lnSpc>
                <a:spcPct val="110000"/>
              </a:lnSpc>
            </a:pPr>
            <a:r>
              <a:rPr sz="6000" b="1" i="0">
                <a:solidFill>
                  <a:srgbClr val="0F7C74"/>
                </a:solidFill>
                <a:latin typeface="Cambria"/>
              </a:rPr>
              <a:t>~120</a:t>
            </a:r>
          </a:p>
        </p:txBody>
      </p:sp>
      <p:sp>
        <p:nvSpPr>
          <p:cNvPr id="14" name="TextBox 13"/>
          <p:cNvSpPr txBox="1"/>
          <p:nvPr/>
        </p:nvSpPr>
        <p:spPr>
          <a:xfrm>
            <a:off x="7589520" y="2926080"/>
            <a:ext cx="2560320" cy="914400"/>
          </a:xfrm>
          <a:prstGeom prst="rect">
            <a:avLst/>
          </a:prstGeom>
          <a:noFill/>
        </p:spPr>
        <p:txBody>
          <a:bodyPr wrap="square" lIns="0" rIns="0" tIns="0" bIns="0" anchor="t">
            <a:spAutoFit/>
          </a:bodyPr>
          <a:lstStyle/>
          <a:p>
            <a:pPr algn="l">
              <a:lnSpc>
                <a:spcPct val="110000"/>
              </a:lnSpc>
            </a:pPr>
            <a:r>
              <a:rPr sz="1800" b="0" i="0">
                <a:solidFill>
                  <a:srgbClr val="18211E"/>
                </a:solidFill>
                <a:latin typeface="Calibri"/>
              </a:rPr>
              <a:t>hospitals
reporting</a:t>
            </a:r>
          </a:p>
        </p:txBody>
      </p:sp>
      <p:sp>
        <p:nvSpPr>
          <p:cNvPr id="15" name="TextBox 14"/>
          <p:cNvSpPr txBox="1"/>
          <p:nvPr/>
        </p:nvSpPr>
        <p:spPr>
          <a:xfrm>
            <a:off x="548640" y="4434840"/>
            <a:ext cx="9875520" cy="1188720"/>
          </a:xfrm>
          <a:prstGeom prst="rect">
            <a:avLst/>
          </a:prstGeom>
          <a:noFill/>
        </p:spPr>
        <p:txBody>
          <a:bodyPr wrap="square" lIns="0" rIns="0" tIns="0" bIns="0" anchor="t">
            <a:spAutoFit/>
          </a:bodyPr>
          <a:lstStyle/>
          <a:p>
            <a:pPr algn="l">
              <a:lnSpc>
                <a:spcPct val="120000"/>
              </a:lnSpc>
            </a:pPr>
            <a:r>
              <a:rPr sz="1700" b="0" i="0">
                <a:solidFill>
                  <a:srgbClr val="4D5853"/>
                </a:solidFill>
                <a:latin typeface="Calibri"/>
              </a:rPr>
              <a:t>Each report is a PDF written a little differently. I read every one, pulled out the dengue count for each week, and fixed mistakes in older data.</a:t>
            </a:r>
          </a:p>
          <a:p>
            <a:pPr algn="l">
              <a:lnSpc>
                <a:spcPct val="120000"/>
              </a:lnSpc>
            </a:pPr>
            <a:r>
              <a:rPr sz="1700" b="1" i="0">
                <a:solidFill>
                  <a:srgbClr val="18211E"/>
                </a:solidFill>
                <a:latin typeface="Calibri"/>
              </a:rPr>
              <a:t>Result: a weekly dengue history for Nepal that didn't exist before.</a:t>
            </a:r>
          </a:p>
        </p:txBody>
      </p:sp>
      <p:sp>
        <p:nvSpPr>
          <p:cNvPr id="16"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Demo QR" descr="qr.png"/>
          <p:cNvPicPr>
            <a:picLocks noChangeAspect="1"/>
          </p:cNvPicPr>
          <p:nvPr/>
        </p:nvPicPr>
        <p:blipFill>
          <a:blip r:embed="rId2"/>
          <a:stretch>
            <a:fillRect/>
          </a:stretch>
        </p:blipFill>
        <p:spPr>
          <a:xfrm>
            <a:off x="10853928" y="5138928"/>
            <a:ext cx="996696" cy="996696"/>
          </a:xfrm>
          <a:prstGeom prst="rect">
            <a:avLst/>
          </a:prstGeom>
        </p:spPr>
      </p:pic>
      <p:sp>
        <p:nvSpPr>
          <p:cNvPr id="18" name="TextBox 17"/>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A simple scoring system</a:t>
            </a:r>
          </a:p>
        </p:txBody>
      </p:sp>
      <p:sp>
        <p:nvSpPr>
          <p:cNvPr id="6" name="Clue card 1"/>
          <p:cNvSpPr/>
          <p:nvPr/>
        </p:nvSpPr>
        <p:spPr>
          <a:xfrm>
            <a:off x="548640" y="1691640"/>
            <a:ext cx="3291840" cy="1325880"/>
          </a:xfrm>
          <a:prstGeom prst="roundRect">
            <a:avLst>
              <a:gd name="adj" fmla="val 8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56232"/>
            <a:ext cx="2926080" cy="365760"/>
          </a:xfrm>
          <a:prstGeom prst="rect">
            <a:avLst/>
          </a:prstGeom>
          <a:noFill/>
        </p:spPr>
        <p:txBody>
          <a:bodyPr wrap="square" lIns="0" rIns="0" tIns="0" bIns="0" anchor="t">
            <a:spAutoFit/>
          </a:bodyPr>
          <a:lstStyle/>
          <a:p>
            <a:pPr algn="l">
              <a:lnSpc>
                <a:spcPct val="110000"/>
              </a:lnSpc>
            </a:pPr>
            <a:r>
              <a:rPr sz="1400" b="1" i="0">
                <a:solidFill>
                  <a:srgbClr val="0F7C74"/>
                </a:solidFill>
                <a:latin typeface="Calibri"/>
              </a:rPr>
              <a:t>Clue 1</a:t>
            </a:r>
          </a:p>
        </p:txBody>
      </p:sp>
      <p:sp>
        <p:nvSpPr>
          <p:cNvPr id="8" name="TextBox 7"/>
          <p:cNvSpPr txBox="1"/>
          <p:nvPr/>
        </p:nvSpPr>
        <p:spPr>
          <a:xfrm>
            <a:off x="777240" y="2194560"/>
            <a:ext cx="2926080" cy="731520"/>
          </a:xfrm>
          <a:prstGeom prst="rect">
            <a:avLst/>
          </a:prstGeom>
          <a:noFill/>
        </p:spPr>
        <p:txBody>
          <a:bodyPr wrap="square" lIns="0" rIns="0" tIns="0" bIns="0" anchor="t">
            <a:spAutoFit/>
          </a:bodyPr>
          <a:lstStyle/>
          <a:p>
            <a:pPr algn="l">
              <a:lnSpc>
                <a:spcPct val="110000"/>
              </a:lnSpc>
            </a:pPr>
            <a:r>
              <a:rPr sz="1800" b="0" i="0">
                <a:solidFill>
                  <a:srgbClr val="18211E"/>
                </a:solidFill>
                <a:latin typeface="Calibri"/>
              </a:rPr>
              <a:t>How many people are sick right now?</a:t>
            </a:r>
          </a:p>
        </p:txBody>
      </p:sp>
      <p:sp>
        <p:nvSpPr>
          <p:cNvPr id="9" name="Clue card 2"/>
          <p:cNvSpPr/>
          <p:nvPr/>
        </p:nvSpPr>
        <p:spPr>
          <a:xfrm>
            <a:off x="548640" y="3291840"/>
            <a:ext cx="3291840" cy="1325880"/>
          </a:xfrm>
          <a:prstGeom prst="roundRect">
            <a:avLst>
              <a:gd name="adj" fmla="val 8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456432"/>
            <a:ext cx="2926080" cy="365760"/>
          </a:xfrm>
          <a:prstGeom prst="rect">
            <a:avLst/>
          </a:prstGeom>
          <a:noFill/>
        </p:spPr>
        <p:txBody>
          <a:bodyPr wrap="square" lIns="0" rIns="0" tIns="0" bIns="0" anchor="t">
            <a:spAutoFit/>
          </a:bodyPr>
          <a:lstStyle/>
          <a:p>
            <a:pPr algn="l">
              <a:lnSpc>
                <a:spcPct val="110000"/>
              </a:lnSpc>
            </a:pPr>
            <a:r>
              <a:rPr sz="1400" b="1" i="0">
                <a:solidFill>
                  <a:srgbClr val="0F7C74"/>
                </a:solidFill>
                <a:latin typeface="Calibri"/>
              </a:rPr>
              <a:t>Clue 2</a:t>
            </a:r>
          </a:p>
        </p:txBody>
      </p:sp>
      <p:sp>
        <p:nvSpPr>
          <p:cNvPr id="11" name="TextBox 10"/>
          <p:cNvSpPr txBox="1"/>
          <p:nvPr/>
        </p:nvSpPr>
        <p:spPr>
          <a:xfrm>
            <a:off x="777240" y="3794760"/>
            <a:ext cx="2926080" cy="731520"/>
          </a:xfrm>
          <a:prstGeom prst="rect">
            <a:avLst/>
          </a:prstGeom>
          <a:noFill/>
        </p:spPr>
        <p:txBody>
          <a:bodyPr wrap="square" lIns="0" rIns="0" tIns="0" bIns="0" anchor="t">
            <a:spAutoFit/>
          </a:bodyPr>
          <a:lstStyle/>
          <a:p>
            <a:pPr algn="l">
              <a:lnSpc>
                <a:spcPct val="110000"/>
              </a:lnSpc>
            </a:pPr>
            <a:r>
              <a:rPr sz="1800" b="0" i="0">
                <a:solidFill>
                  <a:srgbClr val="18211E"/>
                </a:solidFill>
                <a:latin typeface="Calibri"/>
              </a:rPr>
              <a:t>What time of year is it?</a:t>
            </a:r>
          </a:p>
        </p:txBody>
      </p:sp>
      <p:sp>
        <p:nvSpPr>
          <p:cNvPr id="12" name="Right Arrow 11"/>
          <p:cNvSpPr/>
          <p:nvPr/>
        </p:nvSpPr>
        <p:spPr>
          <a:xfrm>
            <a:off x="4069080" y="2788920"/>
            <a:ext cx="640080" cy="457200"/>
          </a:xfrm>
          <a:prstGeom prst="rightArrow">
            <a:avLst/>
          </a:prstGeom>
          <a:solidFill>
            <a:srgbClr val="0F7C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core card"/>
          <p:cNvSpPr/>
          <p:nvPr/>
        </p:nvSpPr>
        <p:spPr>
          <a:xfrm>
            <a:off x="4892040" y="1691640"/>
            <a:ext cx="2743200" cy="2926080"/>
          </a:xfrm>
          <a:prstGeom prst="roundRect">
            <a:avLst>
              <a:gd name="adj" fmla="val 8000"/>
            </a:avLst>
          </a:prstGeom>
          <a:solidFill>
            <a:srgbClr val="0B2B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920240"/>
            <a:ext cx="2286000" cy="2560320"/>
          </a:xfrm>
          <a:prstGeom prst="rect">
            <a:avLst/>
          </a:prstGeom>
          <a:noFill/>
        </p:spPr>
        <p:txBody>
          <a:bodyPr wrap="square" lIns="0" rIns="0" tIns="0" bIns="0" anchor="t">
            <a:spAutoFit/>
          </a:bodyPr>
          <a:lstStyle/>
          <a:p>
            <a:pPr algn="l">
              <a:lnSpc>
                <a:spcPct val="120000"/>
              </a:lnSpc>
            </a:pPr>
            <a:r>
              <a:rPr sz="2200" b="1" i="0">
                <a:solidFill>
                  <a:srgbClr val="FFFFFF"/>
                </a:solidFill>
                <a:latin typeface="Cambria"/>
              </a:rPr>
              <a:t>Add up points</a:t>
            </a:r>
          </a:p>
          <a:p>
            <a:pPr algn="l">
              <a:lnSpc>
                <a:spcPct val="120000"/>
              </a:lnSpc>
            </a:pPr>
            <a:r>
              <a:rPr sz="1500" b="0" i="0">
                <a:solidFill>
                  <a:srgbClr val="DCEFEC"/>
                </a:solidFill>
                <a:latin typeface="Calibri"/>
              </a:rPr>
              <a:t>The model learned how much each clue matters by studying past years.</a:t>
            </a:r>
          </a:p>
        </p:txBody>
      </p:sp>
      <p:sp>
        <p:nvSpPr>
          <p:cNvPr id="15" name="Right Arrow 14"/>
          <p:cNvSpPr/>
          <p:nvPr/>
        </p:nvSpPr>
        <p:spPr>
          <a:xfrm>
            <a:off x="7818120" y="2788920"/>
            <a:ext cx="640080" cy="457200"/>
          </a:xfrm>
          <a:prstGeom prst="rightArrow">
            <a:avLst/>
          </a:prstGeom>
          <a:solidFill>
            <a:srgbClr val="0F7C7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41080" y="1600200"/>
            <a:ext cx="3017520" cy="640080"/>
          </a:xfrm>
          <a:prstGeom prst="rect">
            <a:avLst/>
          </a:prstGeom>
          <a:noFill/>
        </p:spPr>
        <p:txBody>
          <a:bodyPr wrap="square" lIns="0" rIns="0" tIns="0" bIns="0" anchor="t">
            <a:spAutoFit/>
          </a:bodyPr>
          <a:lstStyle/>
          <a:p>
            <a:pPr algn="l">
              <a:lnSpc>
                <a:spcPct val="105000"/>
              </a:lnSpc>
            </a:pPr>
            <a:r>
              <a:rPr sz="1500" b="1" i="0">
                <a:solidFill>
                  <a:srgbClr val="4D5853"/>
                </a:solidFill>
                <a:latin typeface="Calibri"/>
              </a:rPr>
              <a:t>Chance a surge starts in the next 4 weeks</a:t>
            </a:r>
          </a:p>
        </p:txBody>
      </p:sp>
      <p:sp>
        <p:nvSpPr>
          <p:cNvPr id="17" name="light Normal"/>
          <p:cNvSpPr/>
          <p:nvPr/>
        </p:nvSpPr>
        <p:spPr>
          <a:xfrm>
            <a:off x="8641080" y="2423160"/>
            <a:ext cx="502920" cy="502920"/>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60" y="2423160"/>
            <a:ext cx="1737360" cy="502920"/>
          </a:xfrm>
          <a:prstGeom prst="rect">
            <a:avLst/>
          </a:prstGeom>
          <a:noFill/>
        </p:spPr>
        <p:txBody>
          <a:bodyPr wrap="square" lIns="0" rIns="0" tIns="0" bIns="0" anchor="ctr">
            <a:spAutoFit/>
          </a:bodyPr>
          <a:lstStyle/>
          <a:p>
            <a:pPr algn="l">
              <a:lnSpc>
                <a:spcPct val="110000"/>
              </a:lnSpc>
            </a:pPr>
            <a:r>
              <a:rPr sz="1800" b="1" i="0">
                <a:solidFill>
                  <a:srgbClr val="18211E"/>
                </a:solidFill>
                <a:latin typeface="Calibri"/>
              </a:rPr>
              <a:t>Normal</a:t>
            </a:r>
          </a:p>
        </p:txBody>
      </p:sp>
      <p:sp>
        <p:nvSpPr>
          <p:cNvPr id="19" name="light Get ready"/>
          <p:cNvSpPr/>
          <p:nvPr/>
        </p:nvSpPr>
        <p:spPr>
          <a:xfrm>
            <a:off x="8641080" y="3136391"/>
            <a:ext cx="502920" cy="502920"/>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81160" y="3136391"/>
            <a:ext cx="1737360" cy="502920"/>
          </a:xfrm>
          <a:prstGeom prst="rect">
            <a:avLst/>
          </a:prstGeom>
          <a:noFill/>
        </p:spPr>
        <p:txBody>
          <a:bodyPr wrap="square" lIns="0" rIns="0" tIns="0" bIns="0" anchor="ctr">
            <a:spAutoFit/>
          </a:bodyPr>
          <a:lstStyle/>
          <a:p>
            <a:pPr algn="l">
              <a:lnSpc>
                <a:spcPct val="110000"/>
              </a:lnSpc>
            </a:pPr>
            <a:r>
              <a:rPr sz="1800" b="1" i="0">
                <a:solidFill>
                  <a:srgbClr val="18211E"/>
                </a:solidFill>
                <a:latin typeface="Calibri"/>
              </a:rPr>
              <a:t>Get ready</a:t>
            </a:r>
          </a:p>
        </p:txBody>
      </p:sp>
      <p:sp>
        <p:nvSpPr>
          <p:cNvPr id="21" name="light Stand by"/>
          <p:cNvSpPr/>
          <p:nvPr/>
        </p:nvSpPr>
        <p:spPr>
          <a:xfrm>
            <a:off x="8641080" y="3849624"/>
            <a:ext cx="502920" cy="50292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81160" y="3849624"/>
            <a:ext cx="1737360" cy="502920"/>
          </a:xfrm>
          <a:prstGeom prst="rect">
            <a:avLst/>
          </a:prstGeom>
          <a:noFill/>
        </p:spPr>
        <p:txBody>
          <a:bodyPr wrap="square" lIns="0" rIns="0" tIns="0" bIns="0" anchor="ctr">
            <a:spAutoFit/>
          </a:bodyPr>
          <a:lstStyle/>
          <a:p>
            <a:pPr algn="l">
              <a:lnSpc>
                <a:spcPct val="110000"/>
              </a:lnSpc>
            </a:pPr>
            <a:r>
              <a:rPr sz="1800" b="1" i="0">
                <a:solidFill>
                  <a:srgbClr val="18211E"/>
                </a:solidFill>
                <a:latin typeface="Calibri"/>
              </a:rPr>
              <a:t>Stand by</a:t>
            </a:r>
          </a:p>
        </p:txBody>
      </p:sp>
      <p:sp>
        <p:nvSpPr>
          <p:cNvPr id="23" name="TextBox 22"/>
          <p:cNvSpPr txBox="1"/>
          <p:nvPr/>
        </p:nvSpPr>
        <p:spPr>
          <a:xfrm>
            <a:off x="548640" y="4983480"/>
            <a:ext cx="9875520" cy="548640"/>
          </a:xfrm>
          <a:prstGeom prst="rect">
            <a:avLst/>
          </a:prstGeom>
          <a:noFill/>
        </p:spPr>
        <p:txBody>
          <a:bodyPr wrap="square" lIns="0" rIns="0" tIns="0" bIns="0" anchor="t">
            <a:spAutoFit/>
          </a:bodyPr>
          <a:lstStyle/>
          <a:p>
            <a:pPr algn="l">
              <a:lnSpc>
                <a:spcPct val="110000"/>
              </a:lnSpc>
            </a:pPr>
            <a:r>
              <a:rPr sz="1600" b="0" i="0">
                <a:solidFill>
                  <a:srgbClr val="4D5853"/>
                </a:solidFill>
                <a:latin typeface="Calibri"/>
              </a:rPr>
              <a:t>No black box: every warning can be traced back to these two clues.</a:t>
            </a:r>
          </a:p>
        </p:txBody>
      </p:sp>
      <p:sp>
        <p:nvSpPr>
          <p:cNvPr id="24"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Demo QR" descr="qr.png"/>
          <p:cNvPicPr>
            <a:picLocks noChangeAspect="1"/>
          </p:cNvPicPr>
          <p:nvPr/>
        </p:nvPicPr>
        <p:blipFill>
          <a:blip r:embed="rId2"/>
          <a:stretch>
            <a:fillRect/>
          </a:stretch>
        </p:blipFill>
        <p:spPr>
          <a:xfrm>
            <a:off x="10853928" y="5138928"/>
            <a:ext cx="996696" cy="996696"/>
          </a:xfrm>
          <a:prstGeom prst="rect">
            <a:avLst/>
          </a:prstGeom>
        </p:spPr>
      </p:pic>
      <p:sp>
        <p:nvSpPr>
          <p:cNvPr id="26" name="TextBox 25"/>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A fair exam: it never saw the answers</a:t>
            </a:r>
          </a:p>
        </p:txBody>
      </p:sp>
      <p:sp>
        <p:nvSpPr>
          <p:cNvPr id="6" name="TextBox 5"/>
          <p:cNvSpPr txBox="1"/>
          <p:nvPr/>
        </p:nvSpPr>
        <p:spPr>
          <a:xfrm>
            <a:off x="1783080" y="1371600"/>
            <a:ext cx="978407" cy="32004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2018</a:t>
            </a:r>
          </a:p>
        </p:txBody>
      </p:sp>
      <p:sp>
        <p:nvSpPr>
          <p:cNvPr id="7" name="TextBox 6"/>
          <p:cNvSpPr txBox="1"/>
          <p:nvPr/>
        </p:nvSpPr>
        <p:spPr>
          <a:xfrm>
            <a:off x="2834639" y="1371600"/>
            <a:ext cx="978407" cy="32004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2019</a:t>
            </a:r>
          </a:p>
        </p:txBody>
      </p:sp>
      <p:sp>
        <p:nvSpPr>
          <p:cNvPr id="8" name="TextBox 7"/>
          <p:cNvSpPr txBox="1"/>
          <p:nvPr/>
        </p:nvSpPr>
        <p:spPr>
          <a:xfrm>
            <a:off x="3886200" y="1371600"/>
            <a:ext cx="978407" cy="32004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2020</a:t>
            </a:r>
          </a:p>
        </p:txBody>
      </p:sp>
      <p:sp>
        <p:nvSpPr>
          <p:cNvPr id="9" name="TextBox 8"/>
          <p:cNvSpPr txBox="1"/>
          <p:nvPr/>
        </p:nvSpPr>
        <p:spPr>
          <a:xfrm>
            <a:off x="4937759" y="1371600"/>
            <a:ext cx="978407" cy="32004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2021</a:t>
            </a:r>
          </a:p>
        </p:txBody>
      </p:sp>
      <p:sp>
        <p:nvSpPr>
          <p:cNvPr id="10" name="TextBox 9"/>
          <p:cNvSpPr txBox="1"/>
          <p:nvPr/>
        </p:nvSpPr>
        <p:spPr>
          <a:xfrm>
            <a:off x="5989320" y="1371600"/>
            <a:ext cx="978407" cy="32004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2022</a:t>
            </a:r>
          </a:p>
        </p:txBody>
      </p:sp>
      <p:sp>
        <p:nvSpPr>
          <p:cNvPr id="11" name="TextBox 10"/>
          <p:cNvSpPr txBox="1"/>
          <p:nvPr/>
        </p:nvSpPr>
        <p:spPr>
          <a:xfrm>
            <a:off x="7040880" y="1371600"/>
            <a:ext cx="978407" cy="32004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2023</a:t>
            </a:r>
          </a:p>
        </p:txBody>
      </p:sp>
      <p:sp>
        <p:nvSpPr>
          <p:cNvPr id="12" name="TextBox 11"/>
          <p:cNvSpPr txBox="1"/>
          <p:nvPr/>
        </p:nvSpPr>
        <p:spPr>
          <a:xfrm>
            <a:off x="8092440" y="1371600"/>
            <a:ext cx="978407" cy="32004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2024</a:t>
            </a:r>
          </a:p>
        </p:txBody>
      </p:sp>
      <p:sp>
        <p:nvSpPr>
          <p:cNvPr id="13" name="TextBox 12"/>
          <p:cNvSpPr txBox="1"/>
          <p:nvPr/>
        </p:nvSpPr>
        <p:spPr>
          <a:xfrm>
            <a:off x="9143999" y="1371600"/>
            <a:ext cx="978407" cy="320040"/>
          </a:xfrm>
          <a:prstGeom prst="rect">
            <a:avLst/>
          </a:prstGeom>
          <a:noFill/>
        </p:spPr>
        <p:txBody>
          <a:bodyPr wrap="square" lIns="0" rIns="0" tIns="0" bIns="0" anchor="t">
            <a:spAutoFit/>
          </a:bodyPr>
          <a:lstStyle/>
          <a:p>
            <a:pPr algn="ctr">
              <a:lnSpc>
                <a:spcPct val="110000"/>
              </a:lnSpc>
            </a:pPr>
            <a:r>
              <a:rPr sz="1400" b="1" i="0">
                <a:solidFill>
                  <a:srgbClr val="4D5853"/>
                </a:solidFill>
                <a:latin typeface="Calibri"/>
              </a:rPr>
              <a:t>2025</a:t>
            </a:r>
          </a:p>
        </p:txBody>
      </p:sp>
      <p:sp>
        <p:nvSpPr>
          <p:cNvPr id="14" name="TextBox 13"/>
          <p:cNvSpPr txBox="1"/>
          <p:nvPr/>
        </p:nvSpPr>
        <p:spPr>
          <a:xfrm>
            <a:off x="548640" y="1783080"/>
            <a:ext cx="1143000" cy="475488"/>
          </a:xfrm>
          <a:prstGeom prst="rect">
            <a:avLst/>
          </a:prstGeom>
          <a:noFill/>
        </p:spPr>
        <p:txBody>
          <a:bodyPr wrap="square" lIns="0" rIns="0" tIns="0" bIns="0" anchor="ctr">
            <a:spAutoFit/>
          </a:bodyPr>
          <a:lstStyle/>
          <a:p>
            <a:pPr algn="l">
              <a:lnSpc>
                <a:spcPct val="110000"/>
              </a:lnSpc>
            </a:pPr>
            <a:r>
              <a:rPr sz="1400" b="1" i="0">
                <a:solidFill>
                  <a:srgbClr val="18211E"/>
                </a:solidFill>
                <a:latin typeface="Calibri"/>
              </a:rPr>
              <a:t>Test 1</a:t>
            </a:r>
          </a:p>
        </p:txBody>
      </p:sp>
      <p:sp>
        <p:nvSpPr>
          <p:cNvPr id="15" name="Rounded Rectangle 14"/>
          <p:cNvSpPr/>
          <p:nvPr/>
        </p:nvSpPr>
        <p:spPr>
          <a:xfrm>
            <a:off x="1783080" y="1783080"/>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16" name="Rounded Rectangle 15"/>
          <p:cNvSpPr/>
          <p:nvPr/>
        </p:nvSpPr>
        <p:spPr>
          <a:xfrm>
            <a:off x="2834639" y="1783080"/>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17" name="Rounded Rectangle 16"/>
          <p:cNvSpPr/>
          <p:nvPr/>
        </p:nvSpPr>
        <p:spPr>
          <a:xfrm>
            <a:off x="3886200" y="1783080"/>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18" name="Rounded Rectangle 17"/>
          <p:cNvSpPr/>
          <p:nvPr/>
        </p:nvSpPr>
        <p:spPr>
          <a:xfrm>
            <a:off x="4937759" y="1783080"/>
            <a:ext cx="978407" cy="475488"/>
          </a:xfrm>
          <a:prstGeom prst="roundRect">
            <a:avLst>
              <a:gd name="adj" fmla="val 15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Calibri"/>
              </a:rPr>
              <a:t>predict</a:t>
            </a:r>
          </a:p>
        </p:txBody>
      </p:sp>
      <p:sp>
        <p:nvSpPr>
          <p:cNvPr id="19" name="TextBox 18"/>
          <p:cNvSpPr txBox="1"/>
          <p:nvPr/>
        </p:nvSpPr>
        <p:spPr>
          <a:xfrm>
            <a:off x="548640" y="2368296"/>
            <a:ext cx="1143000" cy="475488"/>
          </a:xfrm>
          <a:prstGeom prst="rect">
            <a:avLst/>
          </a:prstGeom>
          <a:noFill/>
        </p:spPr>
        <p:txBody>
          <a:bodyPr wrap="square" lIns="0" rIns="0" tIns="0" bIns="0" anchor="ctr">
            <a:spAutoFit/>
          </a:bodyPr>
          <a:lstStyle/>
          <a:p>
            <a:pPr algn="l">
              <a:lnSpc>
                <a:spcPct val="110000"/>
              </a:lnSpc>
            </a:pPr>
            <a:r>
              <a:rPr sz="1400" b="1" i="0">
                <a:solidFill>
                  <a:srgbClr val="18211E"/>
                </a:solidFill>
                <a:latin typeface="Calibri"/>
              </a:rPr>
              <a:t>Test 2</a:t>
            </a:r>
          </a:p>
        </p:txBody>
      </p:sp>
      <p:sp>
        <p:nvSpPr>
          <p:cNvPr id="20" name="Rounded Rectangle 19"/>
          <p:cNvSpPr/>
          <p:nvPr/>
        </p:nvSpPr>
        <p:spPr>
          <a:xfrm>
            <a:off x="1783080" y="2368296"/>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21" name="Rounded Rectangle 20"/>
          <p:cNvSpPr/>
          <p:nvPr/>
        </p:nvSpPr>
        <p:spPr>
          <a:xfrm>
            <a:off x="2834639" y="2368296"/>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22" name="Rounded Rectangle 21"/>
          <p:cNvSpPr/>
          <p:nvPr/>
        </p:nvSpPr>
        <p:spPr>
          <a:xfrm>
            <a:off x="3886200" y="2368296"/>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23" name="Rounded Rectangle 22"/>
          <p:cNvSpPr/>
          <p:nvPr/>
        </p:nvSpPr>
        <p:spPr>
          <a:xfrm>
            <a:off x="4937759" y="2368296"/>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24" name="Rounded Rectangle 23"/>
          <p:cNvSpPr/>
          <p:nvPr/>
        </p:nvSpPr>
        <p:spPr>
          <a:xfrm>
            <a:off x="5989320" y="2368296"/>
            <a:ext cx="978407" cy="475488"/>
          </a:xfrm>
          <a:prstGeom prst="roundRect">
            <a:avLst>
              <a:gd name="adj" fmla="val 15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Calibri"/>
              </a:rPr>
              <a:t>predict</a:t>
            </a:r>
          </a:p>
        </p:txBody>
      </p:sp>
      <p:sp>
        <p:nvSpPr>
          <p:cNvPr id="25" name="TextBox 24"/>
          <p:cNvSpPr txBox="1"/>
          <p:nvPr/>
        </p:nvSpPr>
        <p:spPr>
          <a:xfrm>
            <a:off x="548640" y="2953512"/>
            <a:ext cx="1143000" cy="475488"/>
          </a:xfrm>
          <a:prstGeom prst="rect">
            <a:avLst/>
          </a:prstGeom>
          <a:noFill/>
        </p:spPr>
        <p:txBody>
          <a:bodyPr wrap="square" lIns="0" rIns="0" tIns="0" bIns="0" anchor="ctr">
            <a:spAutoFit/>
          </a:bodyPr>
          <a:lstStyle/>
          <a:p>
            <a:pPr algn="l">
              <a:lnSpc>
                <a:spcPct val="110000"/>
              </a:lnSpc>
            </a:pPr>
            <a:r>
              <a:rPr sz="1400" b="1" i="0">
                <a:solidFill>
                  <a:srgbClr val="18211E"/>
                </a:solidFill>
                <a:latin typeface="Calibri"/>
              </a:rPr>
              <a:t>Test 3</a:t>
            </a:r>
          </a:p>
        </p:txBody>
      </p:sp>
      <p:sp>
        <p:nvSpPr>
          <p:cNvPr id="26" name="Rounded Rectangle 25"/>
          <p:cNvSpPr/>
          <p:nvPr/>
        </p:nvSpPr>
        <p:spPr>
          <a:xfrm>
            <a:off x="1783080" y="2953512"/>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27" name="Rounded Rectangle 26"/>
          <p:cNvSpPr/>
          <p:nvPr/>
        </p:nvSpPr>
        <p:spPr>
          <a:xfrm>
            <a:off x="2834639" y="2953512"/>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28" name="Rounded Rectangle 27"/>
          <p:cNvSpPr/>
          <p:nvPr/>
        </p:nvSpPr>
        <p:spPr>
          <a:xfrm>
            <a:off x="3886200" y="2953512"/>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29" name="Rounded Rectangle 28"/>
          <p:cNvSpPr/>
          <p:nvPr/>
        </p:nvSpPr>
        <p:spPr>
          <a:xfrm>
            <a:off x="4937759" y="2953512"/>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30" name="Rounded Rectangle 29"/>
          <p:cNvSpPr/>
          <p:nvPr/>
        </p:nvSpPr>
        <p:spPr>
          <a:xfrm>
            <a:off x="5989320" y="2953512"/>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31" name="Rounded Rectangle 30"/>
          <p:cNvSpPr/>
          <p:nvPr/>
        </p:nvSpPr>
        <p:spPr>
          <a:xfrm>
            <a:off x="7040880" y="2953512"/>
            <a:ext cx="978407" cy="475488"/>
          </a:xfrm>
          <a:prstGeom prst="roundRect">
            <a:avLst>
              <a:gd name="adj" fmla="val 15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Calibri"/>
              </a:rPr>
              <a:t>predict</a:t>
            </a:r>
          </a:p>
        </p:txBody>
      </p:sp>
      <p:sp>
        <p:nvSpPr>
          <p:cNvPr id="32" name="TextBox 31"/>
          <p:cNvSpPr txBox="1"/>
          <p:nvPr/>
        </p:nvSpPr>
        <p:spPr>
          <a:xfrm>
            <a:off x="548640" y="3538728"/>
            <a:ext cx="1143000" cy="475488"/>
          </a:xfrm>
          <a:prstGeom prst="rect">
            <a:avLst/>
          </a:prstGeom>
          <a:noFill/>
        </p:spPr>
        <p:txBody>
          <a:bodyPr wrap="square" lIns="0" rIns="0" tIns="0" bIns="0" anchor="ctr">
            <a:spAutoFit/>
          </a:bodyPr>
          <a:lstStyle/>
          <a:p>
            <a:pPr algn="l">
              <a:lnSpc>
                <a:spcPct val="110000"/>
              </a:lnSpc>
            </a:pPr>
            <a:r>
              <a:rPr sz="1400" b="1" i="0">
                <a:solidFill>
                  <a:srgbClr val="18211E"/>
                </a:solidFill>
                <a:latin typeface="Calibri"/>
              </a:rPr>
              <a:t>Test 4</a:t>
            </a:r>
          </a:p>
        </p:txBody>
      </p:sp>
      <p:sp>
        <p:nvSpPr>
          <p:cNvPr id="33" name="Rounded Rectangle 32"/>
          <p:cNvSpPr/>
          <p:nvPr/>
        </p:nvSpPr>
        <p:spPr>
          <a:xfrm>
            <a:off x="1783080" y="3538728"/>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34" name="Rounded Rectangle 33"/>
          <p:cNvSpPr/>
          <p:nvPr/>
        </p:nvSpPr>
        <p:spPr>
          <a:xfrm>
            <a:off x="2834639" y="3538728"/>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35" name="Rounded Rectangle 34"/>
          <p:cNvSpPr/>
          <p:nvPr/>
        </p:nvSpPr>
        <p:spPr>
          <a:xfrm>
            <a:off x="3886200" y="3538728"/>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36" name="Rounded Rectangle 35"/>
          <p:cNvSpPr/>
          <p:nvPr/>
        </p:nvSpPr>
        <p:spPr>
          <a:xfrm>
            <a:off x="4937759" y="3538728"/>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37" name="Rounded Rectangle 36"/>
          <p:cNvSpPr/>
          <p:nvPr/>
        </p:nvSpPr>
        <p:spPr>
          <a:xfrm>
            <a:off x="5989320" y="3538728"/>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38" name="Rounded Rectangle 37"/>
          <p:cNvSpPr/>
          <p:nvPr/>
        </p:nvSpPr>
        <p:spPr>
          <a:xfrm>
            <a:off x="7040880" y="3538728"/>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39" name="Rounded Rectangle 38"/>
          <p:cNvSpPr/>
          <p:nvPr/>
        </p:nvSpPr>
        <p:spPr>
          <a:xfrm>
            <a:off x="8092440" y="3538728"/>
            <a:ext cx="978407" cy="475488"/>
          </a:xfrm>
          <a:prstGeom prst="roundRect">
            <a:avLst>
              <a:gd name="adj" fmla="val 15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Calibri"/>
              </a:rPr>
              <a:t>predict</a:t>
            </a:r>
          </a:p>
        </p:txBody>
      </p:sp>
      <p:sp>
        <p:nvSpPr>
          <p:cNvPr id="40" name="TextBox 39"/>
          <p:cNvSpPr txBox="1"/>
          <p:nvPr/>
        </p:nvSpPr>
        <p:spPr>
          <a:xfrm>
            <a:off x="548640" y="4123944"/>
            <a:ext cx="1143000" cy="475488"/>
          </a:xfrm>
          <a:prstGeom prst="rect">
            <a:avLst/>
          </a:prstGeom>
          <a:noFill/>
        </p:spPr>
        <p:txBody>
          <a:bodyPr wrap="square" lIns="0" rIns="0" tIns="0" bIns="0" anchor="ctr">
            <a:spAutoFit/>
          </a:bodyPr>
          <a:lstStyle/>
          <a:p>
            <a:pPr algn="l">
              <a:lnSpc>
                <a:spcPct val="110000"/>
              </a:lnSpc>
            </a:pPr>
            <a:r>
              <a:rPr sz="1400" b="1" i="0">
                <a:solidFill>
                  <a:srgbClr val="18211E"/>
                </a:solidFill>
                <a:latin typeface="Calibri"/>
              </a:rPr>
              <a:t>Test 5</a:t>
            </a:r>
          </a:p>
        </p:txBody>
      </p:sp>
      <p:sp>
        <p:nvSpPr>
          <p:cNvPr id="41" name="Rounded Rectangle 40"/>
          <p:cNvSpPr/>
          <p:nvPr/>
        </p:nvSpPr>
        <p:spPr>
          <a:xfrm>
            <a:off x="1783080" y="4123944"/>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42" name="Rounded Rectangle 41"/>
          <p:cNvSpPr/>
          <p:nvPr/>
        </p:nvSpPr>
        <p:spPr>
          <a:xfrm>
            <a:off x="2834639" y="4123944"/>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43" name="Rounded Rectangle 42"/>
          <p:cNvSpPr/>
          <p:nvPr/>
        </p:nvSpPr>
        <p:spPr>
          <a:xfrm>
            <a:off x="3886200" y="4123944"/>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44" name="Rounded Rectangle 43"/>
          <p:cNvSpPr/>
          <p:nvPr/>
        </p:nvSpPr>
        <p:spPr>
          <a:xfrm>
            <a:off x="4937759" y="4123944"/>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45" name="Rounded Rectangle 44"/>
          <p:cNvSpPr/>
          <p:nvPr/>
        </p:nvSpPr>
        <p:spPr>
          <a:xfrm>
            <a:off x="5989320" y="4123944"/>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46" name="Rounded Rectangle 45"/>
          <p:cNvSpPr/>
          <p:nvPr/>
        </p:nvSpPr>
        <p:spPr>
          <a:xfrm>
            <a:off x="7040880" y="4123944"/>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47" name="Rounded Rectangle 46"/>
          <p:cNvSpPr/>
          <p:nvPr/>
        </p:nvSpPr>
        <p:spPr>
          <a:xfrm>
            <a:off x="8092440" y="4123944"/>
            <a:ext cx="978407" cy="475488"/>
          </a:xfrm>
          <a:prstGeom prst="roundRect">
            <a:avLst>
              <a:gd name="adj" fmla="val 15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0F7C74"/>
                </a:solidFill>
                <a:latin typeface="Calibri"/>
              </a:rPr>
              <a:t>learn</a:t>
            </a:r>
          </a:p>
        </p:txBody>
      </p:sp>
      <p:sp>
        <p:nvSpPr>
          <p:cNvPr id="48" name="Rounded Rectangle 47"/>
          <p:cNvSpPr/>
          <p:nvPr/>
        </p:nvSpPr>
        <p:spPr>
          <a:xfrm>
            <a:off x="9143999" y="4123944"/>
            <a:ext cx="978407" cy="475488"/>
          </a:xfrm>
          <a:prstGeom prst="roundRect">
            <a:avLst>
              <a:gd name="adj" fmla="val 15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300" b="1">
                <a:solidFill>
                  <a:srgbClr val="FFFFFF"/>
                </a:solidFill>
                <a:latin typeface="Calibri"/>
              </a:rPr>
              <a:t>predict</a:t>
            </a:r>
          </a:p>
        </p:txBody>
      </p:sp>
      <p:sp>
        <p:nvSpPr>
          <p:cNvPr id="49" name="TextBox 48"/>
          <p:cNvSpPr txBox="1"/>
          <p:nvPr/>
        </p:nvSpPr>
        <p:spPr>
          <a:xfrm>
            <a:off x="548640" y="4983480"/>
            <a:ext cx="9875520" cy="640080"/>
          </a:xfrm>
          <a:prstGeom prst="rect">
            <a:avLst/>
          </a:prstGeom>
          <a:noFill/>
        </p:spPr>
        <p:txBody>
          <a:bodyPr wrap="square" lIns="0" rIns="0" tIns="0" bIns="0" anchor="t">
            <a:spAutoFit/>
          </a:bodyPr>
          <a:lstStyle/>
          <a:p>
            <a:pPr algn="l">
              <a:lnSpc>
                <a:spcPct val="120000"/>
              </a:lnSpc>
            </a:pPr>
            <a:r>
              <a:rPr sz="1600" b="0" i="0">
                <a:solidFill>
                  <a:srgbClr val="4D5853"/>
                </a:solidFill>
                <a:latin typeface="Calibri"/>
              </a:rPr>
              <a:t>Each year it learned only from earlier years, then predicted a year it had never seen. 5 separate tests, 2021 to 2025.</a:t>
            </a:r>
          </a:p>
        </p:txBody>
      </p:sp>
      <p:sp>
        <p:nvSpPr>
          <p:cNvPr id="50"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1" name="Demo QR" descr="qr.png"/>
          <p:cNvPicPr>
            <a:picLocks noChangeAspect="1"/>
          </p:cNvPicPr>
          <p:nvPr/>
        </p:nvPicPr>
        <p:blipFill>
          <a:blip r:embed="rId2"/>
          <a:stretch>
            <a:fillRect/>
          </a:stretch>
        </p:blipFill>
        <p:spPr>
          <a:xfrm>
            <a:off x="10853928" y="5138928"/>
            <a:ext cx="996696" cy="996696"/>
          </a:xfrm>
          <a:prstGeom prst="rect">
            <a:avLst/>
          </a:prstGeom>
        </p:spPr>
      </p:pic>
      <p:sp>
        <p:nvSpPr>
          <p:cNvPr id="52" name="TextBox 51"/>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Most surges caught, about 3 weeks early</a:t>
            </a:r>
          </a:p>
        </p:txBody>
      </p:sp>
      <p:sp>
        <p:nvSpPr>
          <p:cNvPr id="6" name="TextBox 5"/>
          <p:cNvSpPr txBox="1"/>
          <p:nvPr/>
        </p:nvSpPr>
        <p:spPr>
          <a:xfrm>
            <a:off x="548640" y="1554480"/>
            <a:ext cx="4206240" cy="457200"/>
          </a:xfrm>
          <a:prstGeom prst="rect">
            <a:avLst/>
          </a:prstGeom>
          <a:noFill/>
        </p:spPr>
        <p:txBody>
          <a:bodyPr wrap="square" lIns="0" rIns="0" tIns="0" bIns="0" anchor="t">
            <a:spAutoFit/>
          </a:bodyPr>
          <a:lstStyle/>
          <a:p>
            <a:pPr algn="l">
              <a:lnSpc>
                <a:spcPct val="110000"/>
              </a:lnSpc>
            </a:pPr>
            <a:r>
              <a:rPr sz="1600" b="1" i="0">
                <a:solidFill>
                  <a:srgbClr val="4D5853"/>
                </a:solidFill>
                <a:latin typeface="Calibri"/>
              </a:rPr>
              <a:t>Surges warned about in time</a:t>
            </a:r>
          </a:p>
        </p:txBody>
      </p:sp>
      <p:sp>
        <p:nvSpPr>
          <p:cNvPr id="7" name="surge 1"/>
          <p:cNvSpPr/>
          <p:nvPr/>
        </p:nvSpPr>
        <p:spPr>
          <a:xfrm>
            <a:off x="548640" y="2103120"/>
            <a:ext cx="685800" cy="685800"/>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a:t>
            </a:r>
          </a:p>
        </p:txBody>
      </p:sp>
      <p:sp>
        <p:nvSpPr>
          <p:cNvPr id="8" name="surge 2"/>
          <p:cNvSpPr/>
          <p:nvPr/>
        </p:nvSpPr>
        <p:spPr>
          <a:xfrm>
            <a:off x="1417319" y="2103120"/>
            <a:ext cx="685800" cy="685800"/>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a:t>
            </a:r>
          </a:p>
        </p:txBody>
      </p:sp>
      <p:sp>
        <p:nvSpPr>
          <p:cNvPr id="9" name="surge 3"/>
          <p:cNvSpPr/>
          <p:nvPr/>
        </p:nvSpPr>
        <p:spPr>
          <a:xfrm>
            <a:off x="2286000" y="2103120"/>
            <a:ext cx="685800" cy="685800"/>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a:t>
            </a:r>
          </a:p>
        </p:txBody>
      </p:sp>
      <p:sp>
        <p:nvSpPr>
          <p:cNvPr id="10" name="surge 4"/>
          <p:cNvSpPr/>
          <p:nvPr/>
        </p:nvSpPr>
        <p:spPr>
          <a:xfrm>
            <a:off x="548640" y="2971800"/>
            <a:ext cx="685800" cy="685800"/>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a:t>
            </a:r>
          </a:p>
        </p:txBody>
      </p:sp>
      <p:sp>
        <p:nvSpPr>
          <p:cNvPr id="11" name="surge 5"/>
          <p:cNvSpPr/>
          <p:nvPr/>
        </p:nvSpPr>
        <p:spPr>
          <a:xfrm>
            <a:off x="1417319" y="2971800"/>
            <a:ext cx="685800" cy="6858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a:t>
            </a:r>
          </a:p>
        </p:txBody>
      </p:sp>
      <p:sp>
        <p:nvSpPr>
          <p:cNvPr id="12" name="surge 6"/>
          <p:cNvSpPr/>
          <p:nvPr/>
        </p:nvSpPr>
        <p:spPr>
          <a:xfrm>
            <a:off x="2286000" y="2971800"/>
            <a:ext cx="685800" cy="6858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Calibri"/>
              </a:rPr>
              <a:t>✗</a:t>
            </a:r>
          </a:p>
        </p:txBody>
      </p:sp>
      <p:sp>
        <p:nvSpPr>
          <p:cNvPr id="13" name="TextBox 12"/>
          <p:cNvSpPr txBox="1"/>
          <p:nvPr/>
        </p:nvSpPr>
        <p:spPr>
          <a:xfrm>
            <a:off x="3291840" y="2103120"/>
            <a:ext cx="1645920" cy="1554480"/>
          </a:xfrm>
          <a:prstGeom prst="rect">
            <a:avLst/>
          </a:prstGeom>
          <a:noFill/>
        </p:spPr>
        <p:txBody>
          <a:bodyPr wrap="square" lIns="0" rIns="0" tIns="0" bIns="0" anchor="t">
            <a:spAutoFit/>
          </a:bodyPr>
          <a:lstStyle/>
          <a:p>
            <a:pPr algn="l">
              <a:lnSpc>
                <a:spcPct val="100000"/>
              </a:lnSpc>
            </a:pPr>
            <a:r>
              <a:rPr sz="3600" b="1" i="0">
                <a:solidFill>
                  <a:srgbClr val="18211E"/>
                </a:solidFill>
                <a:latin typeface="Cambria"/>
              </a:rPr>
              <a:t>4 of 6</a:t>
            </a:r>
          </a:p>
          <a:p>
            <a:pPr algn="l">
              <a:lnSpc>
                <a:spcPct val="100000"/>
              </a:lnSpc>
            </a:pPr>
            <a:r>
              <a:rPr sz="1600" b="0" i="0">
                <a:solidFill>
                  <a:srgbClr val="4D5853"/>
                </a:solidFill>
                <a:latin typeface="Calibri"/>
              </a:rPr>
              <a:t>caught</a:t>
            </a:r>
          </a:p>
        </p:txBody>
      </p:sp>
      <p:sp>
        <p:nvSpPr>
          <p:cNvPr id="14" name="Lead time card"/>
          <p:cNvSpPr/>
          <p:nvPr/>
        </p:nvSpPr>
        <p:spPr>
          <a:xfrm>
            <a:off x="548640" y="4023360"/>
            <a:ext cx="4206240" cy="1325880"/>
          </a:xfrm>
          <a:prstGeom prst="roundRect">
            <a:avLst>
              <a:gd name="adj" fmla="val 8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023360"/>
            <a:ext cx="3840480" cy="1325880"/>
          </a:xfrm>
          <a:prstGeom prst="rect">
            <a:avLst/>
          </a:prstGeom>
          <a:noFill/>
        </p:spPr>
        <p:txBody>
          <a:bodyPr wrap="square" lIns="0" rIns="0" tIns="0" bIns="0" anchor="ctr">
            <a:spAutoFit/>
          </a:bodyPr>
          <a:lstStyle/>
          <a:p>
            <a:pPr algn="l">
              <a:lnSpc>
                <a:spcPct val="100000"/>
              </a:lnSpc>
            </a:pPr>
            <a:r>
              <a:rPr sz="3200" b="1" i="0">
                <a:solidFill>
                  <a:srgbClr val="0F7C74"/>
                </a:solidFill>
                <a:latin typeface="Cambria"/>
              </a:rPr>
              <a:t>~3 weeks</a:t>
            </a:r>
          </a:p>
          <a:p>
            <a:pPr algn="l">
              <a:lnSpc>
                <a:spcPct val="100000"/>
              </a:lnSpc>
            </a:pPr>
            <a:r>
              <a:rPr sz="1500" b="0" i="0">
                <a:solidFill>
                  <a:srgbClr val="18211E"/>
                </a:solidFill>
                <a:latin typeface="Calibri"/>
              </a:rPr>
              <a:t>warning before each caught surge</a:t>
            </a:r>
          </a:p>
        </p:txBody>
      </p:sp>
      <p:graphicFrame>
        <p:nvGraphicFramePr>
          <p:cNvPr id="16" name="Better than simple guess chart"/>
          <p:cNvGraphicFramePr>
            <a:graphicFrameLocks noGrp="1"/>
          </p:cNvGraphicFramePr>
          <p:nvPr/>
        </p:nvGraphicFramePr>
        <p:xfrm>
          <a:off x="5212080" y="1463040"/>
          <a:ext cx="5349240" cy="4069080"/>
        </p:xfrm>
        <a:graphic>
          <a:graphicData uri="http://schemas.openxmlformats.org/drawingml/2006/chart">
            <c:chart xmlns:c="http://schemas.openxmlformats.org/drawingml/2006/chart" r:id="rId2"/>
          </a:graphicData>
        </a:graphic>
      </p:graphicFrame>
      <p:sp>
        <p:nvSpPr>
          <p:cNvPr id="17"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Demo QR" descr="qr.png"/>
          <p:cNvPicPr>
            <a:picLocks noChangeAspect="1"/>
          </p:cNvPicPr>
          <p:nvPr/>
        </p:nvPicPr>
        <p:blipFill>
          <a:blip r:embed="rId3"/>
          <a:stretch>
            <a:fillRect/>
          </a:stretch>
        </p:blipFill>
        <p:spPr>
          <a:xfrm>
            <a:off x="10853928" y="5138928"/>
            <a:ext cx="996696" cy="996696"/>
          </a:xfrm>
          <a:prstGeom prst="rect">
            <a:avLst/>
          </a:prstGeom>
        </p:spPr>
      </p:pic>
      <p:sp>
        <p:nvSpPr>
          <p:cNvPr id="19" name="TextBox 18"/>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Simple beat complex</a:t>
            </a:r>
          </a:p>
        </p:txBody>
      </p:sp>
      <p:sp>
        <p:nvSpPr>
          <p:cNvPr id="6" name="TextBox 5"/>
          <p:cNvSpPr txBox="1"/>
          <p:nvPr/>
        </p:nvSpPr>
        <p:spPr>
          <a:xfrm>
            <a:off x="548640" y="1371600"/>
            <a:ext cx="10058400" cy="457200"/>
          </a:xfrm>
          <a:prstGeom prst="rect">
            <a:avLst/>
          </a:prstGeom>
          <a:noFill/>
        </p:spPr>
        <p:txBody>
          <a:bodyPr wrap="square" lIns="0" rIns="0" tIns="0" bIns="0" anchor="t">
            <a:spAutoFit/>
          </a:bodyPr>
          <a:lstStyle/>
          <a:p>
            <a:pPr algn="l">
              <a:lnSpc>
                <a:spcPct val="110000"/>
              </a:lnSpc>
            </a:pPr>
            <a:r>
              <a:rPr sz="1600" b="0" i="0">
                <a:solidFill>
                  <a:srgbClr val="4D5853"/>
                </a:solidFill>
                <a:latin typeface="Calibri"/>
              </a:rPr>
              <a:t>Simple scoring model vs a complex machine-learning model, tested on the same 5 years</a:t>
            </a:r>
          </a:p>
        </p:txBody>
      </p:sp>
      <p:graphicFrame>
        <p:nvGraphicFramePr>
          <p:cNvPr id="7" name="Surges caught (out of 6) chart"/>
          <p:cNvGraphicFramePr>
            <a:graphicFrameLocks noGrp="1"/>
          </p:cNvGraphicFramePr>
          <p:nvPr/>
        </p:nvGraphicFramePr>
        <p:xfrm>
          <a:off x="548640" y="1920240"/>
          <a:ext cx="3200400" cy="3246120"/>
        </p:xfrm>
        <a:graphic>
          <a:graphicData uri="http://schemas.openxmlformats.org/drawingml/2006/chart">
            <c:chart xmlns:c="http://schemas.openxmlformats.org/drawingml/2006/chart" r:id="rId2"/>
          </a:graphicData>
        </a:graphic>
      </p:graphicFrame>
      <p:sp>
        <p:nvSpPr>
          <p:cNvPr id="8" name="TextBox 7"/>
          <p:cNvSpPr txBox="1"/>
          <p:nvPr/>
        </p:nvSpPr>
        <p:spPr>
          <a:xfrm>
            <a:off x="548640" y="5212080"/>
            <a:ext cx="3200400" cy="320040"/>
          </a:xfrm>
          <a:prstGeom prst="rect">
            <a:avLst/>
          </a:prstGeom>
          <a:noFill/>
        </p:spPr>
        <p:txBody>
          <a:bodyPr wrap="square" lIns="0" rIns="0" tIns="0" bIns="0" anchor="t">
            <a:spAutoFit/>
          </a:bodyPr>
          <a:lstStyle/>
          <a:p>
            <a:pPr algn="ctr">
              <a:lnSpc>
                <a:spcPct val="110000"/>
              </a:lnSpc>
            </a:pPr>
            <a:r>
              <a:rPr sz="1200" b="0" i="0">
                <a:solidFill>
                  <a:srgbClr val="4D5853"/>
                </a:solidFill>
                <a:latin typeface="Calibri"/>
              </a:rPr>
              <a:t>Higher is better</a:t>
            </a:r>
          </a:p>
        </p:txBody>
      </p:sp>
      <p:graphicFrame>
        <p:nvGraphicFramePr>
          <p:cNvPr id="9" name="False alarms (5 years) chart"/>
          <p:cNvGraphicFramePr>
            <a:graphicFrameLocks noGrp="1"/>
          </p:cNvGraphicFramePr>
          <p:nvPr/>
        </p:nvGraphicFramePr>
        <p:xfrm>
          <a:off x="3950208" y="1920240"/>
          <a:ext cx="3200400" cy="3246120"/>
        </p:xfrm>
        <a:graphic>
          <a:graphicData uri="http://schemas.openxmlformats.org/drawingml/2006/chart">
            <c:chart xmlns:c="http://schemas.openxmlformats.org/drawingml/2006/chart" r:id="rId3"/>
          </a:graphicData>
        </a:graphic>
      </p:graphicFrame>
      <p:sp>
        <p:nvSpPr>
          <p:cNvPr id="10" name="TextBox 9"/>
          <p:cNvSpPr txBox="1"/>
          <p:nvPr/>
        </p:nvSpPr>
        <p:spPr>
          <a:xfrm>
            <a:off x="3950208" y="5212080"/>
            <a:ext cx="3200400" cy="320040"/>
          </a:xfrm>
          <a:prstGeom prst="rect">
            <a:avLst/>
          </a:prstGeom>
          <a:noFill/>
        </p:spPr>
        <p:txBody>
          <a:bodyPr wrap="square" lIns="0" rIns="0" tIns="0" bIns="0" anchor="t">
            <a:spAutoFit/>
          </a:bodyPr>
          <a:lstStyle/>
          <a:p>
            <a:pPr algn="ctr">
              <a:lnSpc>
                <a:spcPct val="110000"/>
              </a:lnSpc>
            </a:pPr>
            <a:r>
              <a:rPr sz="1200" b="0" i="0">
                <a:solidFill>
                  <a:srgbClr val="4D5853"/>
                </a:solidFill>
                <a:latin typeface="Calibri"/>
              </a:rPr>
              <a:t>Lower is better</a:t>
            </a:r>
          </a:p>
        </p:txBody>
      </p:sp>
      <p:graphicFrame>
        <p:nvGraphicFramePr>
          <p:cNvPr id="11" name="Average error (cases per week) chart"/>
          <p:cNvGraphicFramePr>
            <a:graphicFrameLocks noGrp="1"/>
          </p:cNvGraphicFramePr>
          <p:nvPr/>
        </p:nvGraphicFramePr>
        <p:xfrm>
          <a:off x="7351776" y="1920240"/>
          <a:ext cx="3200400" cy="3246120"/>
        </p:xfrm>
        <a:graphic>
          <a:graphicData uri="http://schemas.openxmlformats.org/drawingml/2006/chart">
            <c:chart xmlns:c="http://schemas.openxmlformats.org/drawingml/2006/chart" r:id="rId4"/>
          </a:graphicData>
        </a:graphic>
      </p:graphicFrame>
      <p:sp>
        <p:nvSpPr>
          <p:cNvPr id="12" name="TextBox 11"/>
          <p:cNvSpPr txBox="1"/>
          <p:nvPr/>
        </p:nvSpPr>
        <p:spPr>
          <a:xfrm>
            <a:off x="7351776" y="5212080"/>
            <a:ext cx="3200400" cy="320040"/>
          </a:xfrm>
          <a:prstGeom prst="rect">
            <a:avLst/>
          </a:prstGeom>
          <a:noFill/>
        </p:spPr>
        <p:txBody>
          <a:bodyPr wrap="square" lIns="0" rIns="0" tIns="0" bIns="0" anchor="t">
            <a:spAutoFit/>
          </a:bodyPr>
          <a:lstStyle/>
          <a:p>
            <a:pPr algn="ctr">
              <a:lnSpc>
                <a:spcPct val="110000"/>
              </a:lnSpc>
            </a:pPr>
            <a:r>
              <a:rPr sz="1200" b="0" i="0">
                <a:solidFill>
                  <a:srgbClr val="4D5853"/>
                </a:solidFill>
                <a:latin typeface="Calibri"/>
              </a:rPr>
              <a:t>Lower is better</a:t>
            </a:r>
          </a:p>
        </p:txBody>
      </p:sp>
      <p:sp>
        <p:nvSpPr>
          <p:cNvPr id="13" name="Weather note"/>
          <p:cNvSpPr/>
          <p:nvPr/>
        </p:nvSpPr>
        <p:spPr>
          <a:xfrm>
            <a:off x="548640" y="5669280"/>
            <a:ext cx="9966960" cy="685800"/>
          </a:xfrm>
          <a:prstGeom prst="roundRect">
            <a:avLst>
              <a:gd name="adj" fmla="val 8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669280"/>
            <a:ext cx="9601200" cy="685800"/>
          </a:xfrm>
          <a:prstGeom prst="rect">
            <a:avLst/>
          </a:prstGeom>
          <a:noFill/>
        </p:spPr>
        <p:txBody>
          <a:bodyPr wrap="square" lIns="0" rIns="0" tIns="0" bIns="0" anchor="ctr">
            <a:spAutoFit/>
          </a:bodyPr>
          <a:lstStyle/>
          <a:p>
            <a:pPr algn="l">
              <a:lnSpc>
                <a:spcPct val="110000"/>
              </a:lnSpc>
            </a:pPr>
            <a:r>
              <a:rPr sz="1700" b="1" i="0">
                <a:solidFill>
                  <a:srgbClr val="0F7C74"/>
                </a:solidFill>
                <a:latin typeface="Calibri"/>
              </a:rPr>
              <a:t>Adding weather </a:t>
            </a:r>
            <a:r>
              <a:rPr sz="1700" b="0" i="0">
                <a:solidFill>
                  <a:srgbClr val="18211E"/>
                </a:solidFill>
                <a:latin typeface="Calibri"/>
              </a:rPr>
              <a:t>(temperature, rainfall, humidity) didn't reliably help either.</a:t>
            </a:r>
          </a:p>
        </p:txBody>
      </p:sp>
      <p:sp>
        <p:nvSpPr>
          <p:cNvPr id="15"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Demo QR" descr="qr.png"/>
          <p:cNvPicPr>
            <a:picLocks noChangeAspect="1"/>
          </p:cNvPicPr>
          <p:nvPr/>
        </p:nvPicPr>
        <p:blipFill>
          <a:blip r:embed="rId5"/>
          <a:stretch>
            <a:fillRect/>
          </a:stretch>
        </p:blipFill>
        <p:spPr>
          <a:xfrm>
            <a:off x="10853928" y="5138928"/>
            <a:ext cx="996696" cy="996696"/>
          </a:xfrm>
          <a:prstGeom prst="rect">
            <a:avLst/>
          </a:prstGeom>
        </p:spPr>
      </p:pic>
      <p:sp>
        <p:nvSpPr>
          <p:cNvPr id="17" name="TextBox 16"/>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The same finding, again and again</a:t>
            </a:r>
          </a:p>
        </p:txBody>
      </p:sp>
      <p:sp>
        <p:nvSpPr>
          <p:cNvPr id="6" name="Finding card 1"/>
          <p:cNvSpPr/>
          <p:nvPr/>
        </p:nvSpPr>
        <p:spPr>
          <a:xfrm>
            <a:off x="548640" y="1691640"/>
            <a:ext cx="3154680" cy="3291840"/>
          </a:xfrm>
          <a:prstGeom prst="roundRect">
            <a:avLst>
              <a:gd name="adj" fmla="val 8000"/>
            </a:avLst>
          </a:prstGeom>
          <a:solidFill>
            <a:srgbClr val="F7F9F8"/>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dge 1"/>
          <p:cNvSpPr/>
          <p:nvPr/>
        </p:nvSpPr>
        <p:spPr>
          <a:xfrm>
            <a:off x="822959" y="1965960"/>
            <a:ext cx="640080" cy="64008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1</a:t>
            </a:r>
          </a:p>
        </p:txBody>
      </p:sp>
      <p:sp>
        <p:nvSpPr>
          <p:cNvPr id="8" name="TextBox 7"/>
          <p:cNvSpPr txBox="1"/>
          <p:nvPr/>
        </p:nvSpPr>
        <p:spPr>
          <a:xfrm>
            <a:off x="822959" y="2788920"/>
            <a:ext cx="2651760" cy="731520"/>
          </a:xfrm>
          <a:prstGeom prst="rect">
            <a:avLst/>
          </a:prstGeom>
          <a:noFill/>
        </p:spPr>
        <p:txBody>
          <a:bodyPr wrap="square" lIns="0" rIns="0" tIns="0" bIns="0" anchor="t">
            <a:spAutoFit/>
          </a:bodyPr>
          <a:lstStyle/>
          <a:p>
            <a:pPr algn="l">
              <a:lnSpc>
                <a:spcPct val="105000"/>
              </a:lnSpc>
            </a:pPr>
            <a:r>
              <a:rPr sz="1900" b="1" i="0">
                <a:solidFill>
                  <a:srgbClr val="18211E"/>
                </a:solidFill>
                <a:latin typeface="Cambria"/>
              </a:rPr>
              <a:t>Diarrhoea, same method</a:t>
            </a:r>
          </a:p>
        </p:txBody>
      </p:sp>
      <p:sp>
        <p:nvSpPr>
          <p:cNvPr id="9" name="TextBox 8"/>
          <p:cNvSpPr txBox="1"/>
          <p:nvPr/>
        </p:nvSpPr>
        <p:spPr>
          <a:xfrm>
            <a:off x="822959" y="3566160"/>
            <a:ext cx="2651760" cy="1371600"/>
          </a:xfrm>
          <a:prstGeom prst="rect">
            <a:avLst/>
          </a:prstGeom>
          <a:noFill/>
        </p:spPr>
        <p:txBody>
          <a:bodyPr wrap="square" lIns="0" rIns="0" tIns="0" bIns="0" anchor="t">
            <a:spAutoFit/>
          </a:bodyPr>
          <a:lstStyle/>
          <a:p>
            <a:pPr algn="l">
              <a:lnSpc>
                <a:spcPct val="120000"/>
              </a:lnSpc>
            </a:pPr>
            <a:r>
              <a:rPr sz="1600" b="0" i="0">
                <a:solidFill>
                  <a:srgbClr val="4D5853"/>
                </a:solidFill>
                <a:latin typeface="Calibri"/>
              </a:rPr>
              <a:t>Weather didn't improve the forecast. Recent case counts carried the signal.</a:t>
            </a:r>
          </a:p>
        </p:txBody>
      </p:sp>
      <p:sp>
        <p:nvSpPr>
          <p:cNvPr id="10" name="Finding card 2"/>
          <p:cNvSpPr/>
          <p:nvPr/>
        </p:nvSpPr>
        <p:spPr>
          <a:xfrm>
            <a:off x="3950208" y="1691640"/>
            <a:ext cx="3154680" cy="3291840"/>
          </a:xfrm>
          <a:prstGeom prst="roundRect">
            <a:avLst>
              <a:gd name="adj" fmla="val 8000"/>
            </a:avLst>
          </a:prstGeom>
          <a:solidFill>
            <a:srgbClr val="F7F9F8"/>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dge 2"/>
          <p:cNvSpPr/>
          <p:nvPr/>
        </p:nvSpPr>
        <p:spPr>
          <a:xfrm>
            <a:off x="4224528" y="1965960"/>
            <a:ext cx="640080" cy="640080"/>
          </a:xfrm>
          <a:prstGeom prst="ellipse">
            <a:avLst/>
          </a:prstGeom>
          <a:solidFill>
            <a:srgbClr val="0F7C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2</a:t>
            </a:r>
          </a:p>
        </p:txBody>
      </p:sp>
      <p:sp>
        <p:nvSpPr>
          <p:cNvPr id="12" name="TextBox 11"/>
          <p:cNvSpPr txBox="1"/>
          <p:nvPr/>
        </p:nvSpPr>
        <p:spPr>
          <a:xfrm>
            <a:off x="4224528" y="2788920"/>
            <a:ext cx="2651760" cy="731520"/>
          </a:xfrm>
          <a:prstGeom prst="rect">
            <a:avLst/>
          </a:prstGeom>
          <a:noFill/>
        </p:spPr>
        <p:txBody>
          <a:bodyPr wrap="square" lIns="0" rIns="0" tIns="0" bIns="0" anchor="t">
            <a:spAutoFit/>
          </a:bodyPr>
          <a:lstStyle/>
          <a:p>
            <a:pPr algn="l">
              <a:lnSpc>
                <a:spcPct val="105000"/>
              </a:lnSpc>
            </a:pPr>
            <a:r>
              <a:rPr sz="1900" b="1" i="0">
                <a:solidFill>
                  <a:srgbClr val="18211E"/>
                </a:solidFill>
                <a:latin typeface="Cambria"/>
              </a:rPr>
              <a:t>International research</a:t>
            </a:r>
          </a:p>
        </p:txBody>
      </p:sp>
      <p:sp>
        <p:nvSpPr>
          <p:cNvPr id="13" name="TextBox 12"/>
          <p:cNvSpPr txBox="1"/>
          <p:nvPr/>
        </p:nvSpPr>
        <p:spPr>
          <a:xfrm>
            <a:off x="4224528" y="3566160"/>
            <a:ext cx="2651760" cy="1371600"/>
          </a:xfrm>
          <a:prstGeom prst="rect">
            <a:avLst/>
          </a:prstGeom>
          <a:noFill/>
        </p:spPr>
        <p:txBody>
          <a:bodyPr wrap="square" lIns="0" rIns="0" tIns="0" bIns="0" anchor="t">
            <a:spAutoFit/>
          </a:bodyPr>
          <a:lstStyle/>
          <a:p>
            <a:pPr algn="l">
              <a:lnSpc>
                <a:spcPct val="120000"/>
              </a:lnSpc>
            </a:pPr>
            <a:r>
              <a:rPr sz="1600" b="0" i="0">
                <a:solidFill>
                  <a:srgbClr val="4D5853"/>
                </a:solidFill>
                <a:latin typeface="Calibri"/>
              </a:rPr>
              <a:t>In a major dengue forecasting challenge, simple models were among the hardest to beat.</a:t>
            </a:r>
          </a:p>
        </p:txBody>
      </p:sp>
      <p:sp>
        <p:nvSpPr>
          <p:cNvPr id="14" name="Finding card 3"/>
          <p:cNvSpPr/>
          <p:nvPr/>
        </p:nvSpPr>
        <p:spPr>
          <a:xfrm>
            <a:off x="7351776" y="1691640"/>
            <a:ext cx="3154680" cy="3291840"/>
          </a:xfrm>
          <a:prstGeom prst="roundRect">
            <a:avLst>
              <a:gd name="adj" fmla="val 8000"/>
            </a:avLst>
          </a:prstGeom>
          <a:solidFill>
            <a:srgbClr val="F7F9F8"/>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dge 3"/>
          <p:cNvSpPr/>
          <p:nvPr/>
        </p:nvSpPr>
        <p:spPr>
          <a:xfrm>
            <a:off x="7626096" y="1965960"/>
            <a:ext cx="640080" cy="640080"/>
          </a:xfrm>
          <a:prstGeom prst="ellipse">
            <a:avLst/>
          </a:prstGeom>
          <a:solidFill>
            <a:srgbClr val="0B2B2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3</a:t>
            </a:r>
          </a:p>
        </p:txBody>
      </p:sp>
      <p:sp>
        <p:nvSpPr>
          <p:cNvPr id="16" name="TextBox 15"/>
          <p:cNvSpPr txBox="1"/>
          <p:nvPr/>
        </p:nvSpPr>
        <p:spPr>
          <a:xfrm>
            <a:off x="7626096" y="2788920"/>
            <a:ext cx="2651760" cy="731520"/>
          </a:xfrm>
          <a:prstGeom prst="rect">
            <a:avLst/>
          </a:prstGeom>
          <a:noFill/>
        </p:spPr>
        <p:txBody>
          <a:bodyPr wrap="square" lIns="0" rIns="0" tIns="0" bIns="0" anchor="t">
            <a:spAutoFit/>
          </a:bodyPr>
          <a:lstStyle/>
          <a:p>
            <a:pPr algn="l">
              <a:lnSpc>
                <a:spcPct val="105000"/>
              </a:lnSpc>
            </a:pPr>
            <a:r>
              <a:rPr sz="1900" b="1" i="0">
                <a:solidFill>
                  <a:srgbClr val="18211E"/>
                </a:solidFill>
                <a:latin typeface="Cambria"/>
              </a:rPr>
              <a:t>The lesson</a:t>
            </a:r>
          </a:p>
        </p:txBody>
      </p:sp>
      <p:sp>
        <p:nvSpPr>
          <p:cNvPr id="17" name="TextBox 16"/>
          <p:cNvSpPr txBox="1"/>
          <p:nvPr/>
        </p:nvSpPr>
        <p:spPr>
          <a:xfrm>
            <a:off x="7626096" y="3566160"/>
            <a:ext cx="2651760" cy="1371600"/>
          </a:xfrm>
          <a:prstGeom prst="rect">
            <a:avLst/>
          </a:prstGeom>
          <a:noFill/>
        </p:spPr>
        <p:txBody>
          <a:bodyPr wrap="square" lIns="0" rIns="0" tIns="0" bIns="0" anchor="t">
            <a:spAutoFit/>
          </a:bodyPr>
          <a:lstStyle/>
          <a:p>
            <a:pPr algn="l">
              <a:lnSpc>
                <a:spcPct val="120000"/>
              </a:lnSpc>
            </a:pPr>
            <a:r>
              <a:rPr sz="1600" b="0" i="0">
                <a:solidFill>
                  <a:srgbClr val="4D5853"/>
                </a:solidFill>
                <a:latin typeface="Calibri"/>
              </a:rPr>
              <a:t>With limited data, simple and transparent models work best.</a:t>
            </a:r>
          </a:p>
        </p:txBody>
      </p:sp>
      <p:sp>
        <p:nvSpPr>
          <p:cNvPr id="18" name="TextBox 17"/>
          <p:cNvSpPr txBox="1"/>
          <p:nvPr/>
        </p:nvSpPr>
        <p:spPr>
          <a:xfrm>
            <a:off x="548640" y="5257800"/>
            <a:ext cx="9875520" cy="457200"/>
          </a:xfrm>
          <a:prstGeom prst="rect">
            <a:avLst/>
          </a:prstGeom>
          <a:noFill/>
        </p:spPr>
        <p:txBody>
          <a:bodyPr wrap="square" lIns="0" rIns="0" tIns="0" bIns="0" anchor="t">
            <a:spAutoFit/>
          </a:bodyPr>
          <a:lstStyle/>
          <a:p>
            <a:pPr algn="l">
              <a:lnSpc>
                <a:spcPct val="110000"/>
              </a:lnSpc>
            </a:pPr>
            <a:r>
              <a:rPr sz="1100" b="0" i="0">
                <a:solidFill>
                  <a:srgbClr val="4D5853"/>
                </a:solidFill>
                <a:latin typeface="Calibri"/>
              </a:rPr>
              <a:t>Sources: Johansson et al. 2019, PNAS (dengue forecasting challenge); MonsoonWatch diarrhoea forecasts.</a:t>
            </a:r>
          </a:p>
        </p:txBody>
      </p:sp>
      <p:sp>
        <p:nvSpPr>
          <p:cNvPr id="19"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Demo QR" descr="qr.png"/>
          <p:cNvPicPr>
            <a:picLocks noChangeAspect="1"/>
          </p:cNvPicPr>
          <p:nvPr/>
        </p:nvPicPr>
        <p:blipFill>
          <a:blip r:embed="rId2"/>
          <a:stretch>
            <a:fillRect/>
          </a:stretch>
        </p:blipFill>
        <p:spPr>
          <a:xfrm>
            <a:off x="10853928" y="5138928"/>
            <a:ext cx="996696" cy="996696"/>
          </a:xfrm>
          <a:prstGeom prst="rect">
            <a:avLst/>
          </a:prstGeom>
        </p:spPr>
      </p:pic>
      <p:sp>
        <p:nvSpPr>
          <p:cNvPr id="21" name="TextBox 20"/>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66928"/>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66928"/>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66928"/>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411480"/>
            <a:ext cx="9052560" cy="822960"/>
          </a:xfrm>
          <a:prstGeom prst="rect">
            <a:avLst/>
          </a:prstGeom>
          <a:noFill/>
        </p:spPr>
        <p:txBody>
          <a:bodyPr wrap="square" lIns="0" rIns="0" tIns="0" bIns="0" anchor="ctr">
            <a:spAutoFit/>
          </a:bodyPr>
          <a:lstStyle/>
          <a:p>
            <a:pPr algn="l">
              <a:lnSpc>
                <a:spcPct val="110000"/>
              </a:lnSpc>
            </a:pPr>
            <a:r>
              <a:rPr sz="3400" b="1" i="0">
                <a:solidFill>
                  <a:srgbClr val="18211E"/>
                </a:solidFill>
                <a:latin typeface="Cambria"/>
              </a:rPr>
              <a:t>Not perfect yet, and what comes next</a:t>
            </a:r>
          </a:p>
        </p:txBody>
      </p:sp>
      <p:sp>
        <p:nvSpPr>
          <p:cNvPr id="6" name="Limits today card"/>
          <p:cNvSpPr/>
          <p:nvPr/>
        </p:nvSpPr>
        <p:spPr>
          <a:xfrm>
            <a:off x="548640" y="1645920"/>
            <a:ext cx="4800600" cy="3566160"/>
          </a:xfrm>
          <a:prstGeom prst="roundRect">
            <a:avLst>
              <a:gd name="adj" fmla="val 8000"/>
            </a:avLst>
          </a:prstGeom>
          <a:solidFill>
            <a:srgbClr val="F7F9F8"/>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imits today dot"/>
          <p:cNvSpPr/>
          <p:nvPr/>
        </p:nvSpPr>
        <p:spPr>
          <a:xfrm>
            <a:off x="868680" y="1920240"/>
            <a:ext cx="457200" cy="457200"/>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508760" y="1920240"/>
            <a:ext cx="3566160" cy="457200"/>
          </a:xfrm>
          <a:prstGeom prst="rect">
            <a:avLst/>
          </a:prstGeom>
          <a:noFill/>
        </p:spPr>
        <p:txBody>
          <a:bodyPr wrap="square" lIns="0" rIns="0" tIns="0" bIns="0" anchor="ctr">
            <a:spAutoFit/>
          </a:bodyPr>
          <a:lstStyle/>
          <a:p>
            <a:pPr algn="l">
              <a:lnSpc>
                <a:spcPct val="110000"/>
              </a:lnSpc>
            </a:pPr>
            <a:r>
              <a:rPr sz="2200" b="1" i="0">
                <a:solidFill>
                  <a:srgbClr val="18211E"/>
                </a:solidFill>
                <a:latin typeface="Cambria"/>
              </a:rPr>
              <a:t>Limits today</a:t>
            </a:r>
          </a:p>
        </p:txBody>
      </p:sp>
      <p:sp>
        <p:nvSpPr>
          <p:cNvPr id="9" name="TextBox 8"/>
          <p:cNvSpPr txBox="1"/>
          <p:nvPr/>
        </p:nvSpPr>
        <p:spPr>
          <a:xfrm>
            <a:off x="868680" y="2697480"/>
            <a:ext cx="4206240" cy="2286000"/>
          </a:xfrm>
          <a:prstGeom prst="rect">
            <a:avLst/>
          </a:prstGeom>
          <a:noFill/>
        </p:spPr>
        <p:txBody>
          <a:bodyPr wrap="square" lIns="0" rIns="0" tIns="0" bIns="0" anchor="t">
            <a:spAutoFit/>
          </a:bodyPr>
          <a:lstStyle/>
          <a:p>
            <a:pPr algn="l" marL="274320" indent="-274320">
              <a:lnSpc>
                <a:spcPct val="115000"/>
              </a:lnSpc>
              <a:spcAft>
                <a:spcPts val="1000"/>
              </a:spcAft>
              <a:buChar char="•"/>
            </a:pPr>
            <a:r>
              <a:rPr sz="1800" b="0" i="0">
                <a:solidFill>
                  <a:srgbClr val="18211E"/>
                </a:solidFill>
                <a:latin typeface="Calibri"/>
              </a:rPr>
              <a:t>Missed 2 of 6 surges</a:t>
            </a:r>
          </a:p>
          <a:p>
            <a:pPr algn="l" marL="274320" indent="-274320">
              <a:lnSpc>
                <a:spcPct val="115000"/>
              </a:lnSpc>
              <a:spcAft>
                <a:spcPts val="1000"/>
              </a:spcAft>
              <a:buChar char="•"/>
            </a:pPr>
            <a:r>
              <a:rPr sz="1800" b="0" i="0">
                <a:solidFill>
                  <a:srgbClr val="18211E"/>
                </a:solidFill>
                <a:latin typeface="Calibri"/>
              </a:rPr>
              <a:t>Only 5 years of testing</a:t>
            </a:r>
          </a:p>
          <a:p>
            <a:pPr algn="l" marL="274320" indent="-274320">
              <a:lnSpc>
                <a:spcPct val="115000"/>
              </a:lnSpc>
              <a:spcAft>
                <a:spcPts val="1000"/>
              </a:spcAft>
              <a:buChar char="•"/>
            </a:pPr>
            <a:r>
              <a:rPr sz="1800" b="0" i="0">
                <a:solidFill>
                  <a:srgbClr val="18211E"/>
                </a:solidFill>
                <a:latin typeface="Calibri"/>
              </a:rPr>
              <a:t>Whole country, not districts</a:t>
            </a:r>
          </a:p>
        </p:txBody>
      </p:sp>
      <p:sp>
        <p:nvSpPr>
          <p:cNvPr id="10" name="Next steps card"/>
          <p:cNvSpPr/>
          <p:nvPr/>
        </p:nvSpPr>
        <p:spPr>
          <a:xfrm>
            <a:off x="5623559" y="1645920"/>
            <a:ext cx="4800600" cy="3566160"/>
          </a:xfrm>
          <a:prstGeom prst="roundRect">
            <a:avLst>
              <a:gd name="adj" fmla="val 8000"/>
            </a:avLst>
          </a:prstGeom>
          <a:solidFill>
            <a:srgbClr val="F7F9F8"/>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Next steps dot"/>
          <p:cNvSpPr/>
          <p:nvPr/>
        </p:nvSpPr>
        <p:spPr>
          <a:xfrm>
            <a:off x="5943599" y="1920240"/>
            <a:ext cx="457200" cy="457200"/>
          </a:xfrm>
          <a:prstGeom prst="ellipse">
            <a:avLst/>
          </a:prstGeom>
          <a:solidFill>
            <a:srgbClr val="0F7C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79" y="1920240"/>
            <a:ext cx="3566160" cy="457200"/>
          </a:xfrm>
          <a:prstGeom prst="rect">
            <a:avLst/>
          </a:prstGeom>
          <a:noFill/>
        </p:spPr>
        <p:txBody>
          <a:bodyPr wrap="square" lIns="0" rIns="0" tIns="0" bIns="0" anchor="ctr">
            <a:spAutoFit/>
          </a:bodyPr>
          <a:lstStyle/>
          <a:p>
            <a:pPr algn="l">
              <a:lnSpc>
                <a:spcPct val="110000"/>
              </a:lnSpc>
            </a:pPr>
            <a:r>
              <a:rPr sz="2200" b="1" i="0">
                <a:solidFill>
                  <a:srgbClr val="18211E"/>
                </a:solidFill>
                <a:latin typeface="Cambria"/>
              </a:rPr>
              <a:t>Next steps</a:t>
            </a:r>
          </a:p>
        </p:txBody>
      </p:sp>
      <p:sp>
        <p:nvSpPr>
          <p:cNvPr id="13" name="TextBox 12"/>
          <p:cNvSpPr txBox="1"/>
          <p:nvPr/>
        </p:nvSpPr>
        <p:spPr>
          <a:xfrm>
            <a:off x="5943599" y="2697480"/>
            <a:ext cx="4206240" cy="2286000"/>
          </a:xfrm>
          <a:prstGeom prst="rect">
            <a:avLst/>
          </a:prstGeom>
          <a:noFill/>
        </p:spPr>
        <p:txBody>
          <a:bodyPr wrap="square" lIns="0" rIns="0" tIns="0" bIns="0" anchor="t">
            <a:spAutoFit/>
          </a:bodyPr>
          <a:lstStyle/>
          <a:p>
            <a:pPr algn="l" marL="274320" indent="-274320">
              <a:lnSpc>
                <a:spcPct val="115000"/>
              </a:lnSpc>
              <a:spcAft>
                <a:spcPts val="1000"/>
              </a:spcAft>
              <a:buChar char="•"/>
            </a:pPr>
            <a:r>
              <a:rPr sz="1800" b="0" i="0">
                <a:solidFill>
                  <a:srgbClr val="18211E"/>
                </a:solidFill>
                <a:latin typeface="Calibri"/>
              </a:rPr>
              <a:t>Forecast district by district</a:t>
            </a:r>
          </a:p>
          <a:p>
            <a:pPr algn="l" marL="274320" indent="-274320">
              <a:lnSpc>
                <a:spcPct val="115000"/>
              </a:lnSpc>
              <a:spcAft>
                <a:spcPts val="1000"/>
              </a:spcAft>
              <a:buChar char="•"/>
            </a:pPr>
            <a:r>
              <a:rPr sz="1800" b="0" i="0">
                <a:solidFill>
                  <a:srgbClr val="18211E"/>
                </a:solidFill>
                <a:latin typeface="Calibri"/>
              </a:rPr>
              <a:t>Test it live with hospitals</a:t>
            </a:r>
          </a:p>
          <a:p>
            <a:pPr algn="l" marL="274320" indent="-274320">
              <a:lnSpc>
                <a:spcPct val="115000"/>
              </a:lnSpc>
              <a:spcAft>
                <a:spcPts val="1000"/>
              </a:spcAft>
              <a:buChar char="•"/>
            </a:pPr>
            <a:r>
              <a:rPr sz="1800" b="0" i="0">
                <a:solidFill>
                  <a:srgbClr val="18211E"/>
                </a:solidFill>
                <a:latin typeface="Calibri"/>
              </a:rPr>
              <a:t>Add each new year of reports</a:t>
            </a:r>
          </a:p>
        </p:txBody>
      </p:sp>
      <p:sp>
        <p:nvSpPr>
          <p:cNvPr id="14"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Demo QR" descr="qr.png"/>
          <p:cNvPicPr>
            <a:picLocks noChangeAspect="1"/>
          </p:cNvPicPr>
          <p:nvPr/>
        </p:nvPicPr>
        <p:blipFill>
          <a:blip r:embed="rId2"/>
          <a:stretch>
            <a:fillRect/>
          </a:stretch>
        </p:blipFill>
        <p:spPr>
          <a:xfrm>
            <a:off x="10853928" y="5138928"/>
            <a:ext cx="996696" cy="996696"/>
          </a:xfrm>
          <a:prstGeom prst="rect">
            <a:avLst/>
          </a:prstGeom>
        </p:spPr>
      </p:pic>
      <p:sp>
        <p:nvSpPr>
          <p:cNvPr id="16" name="TextBox 15"/>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2B28"/>
        </a:solidFill>
        <a:effectLst/>
      </p:bgPr>
    </p:bg>
    <p:spTree>
      <p:nvGrpSpPr>
        <p:cNvPr id="1" name=""/>
        <p:cNvGrpSpPr/>
        <p:nvPr/>
      </p:nvGrpSpPr>
      <p:grpSpPr/>
      <p:sp>
        <p:nvSpPr>
          <p:cNvPr id="2" name="motif light 1"/>
          <p:cNvSpPr/>
          <p:nvPr/>
        </p:nvSpPr>
        <p:spPr>
          <a:xfrm>
            <a:off x="731520" y="1097280"/>
            <a:ext cx="384048" cy="38404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1243584" y="1097280"/>
            <a:ext cx="384048" cy="38404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755648" y="1097280"/>
            <a:ext cx="384048" cy="38404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783080"/>
            <a:ext cx="7589520" cy="1645920"/>
          </a:xfrm>
          <a:prstGeom prst="rect">
            <a:avLst/>
          </a:prstGeom>
          <a:noFill/>
        </p:spPr>
        <p:txBody>
          <a:bodyPr wrap="square" lIns="0" rIns="0" tIns="0" bIns="0" anchor="t">
            <a:spAutoFit/>
          </a:bodyPr>
          <a:lstStyle/>
          <a:p>
            <a:pPr algn="l">
              <a:lnSpc>
                <a:spcPct val="105000"/>
              </a:lnSpc>
            </a:pPr>
            <a:r>
              <a:rPr sz="4400" b="1" i="0">
                <a:solidFill>
                  <a:srgbClr val="FFFFFF"/>
                </a:solidFill>
                <a:latin typeface="Cambria"/>
              </a:rPr>
              <a:t>Nepal already collects the data it needs</a:t>
            </a:r>
          </a:p>
        </p:txBody>
      </p:sp>
      <p:sp>
        <p:nvSpPr>
          <p:cNvPr id="6" name="TextBox 5"/>
          <p:cNvSpPr txBox="1"/>
          <p:nvPr/>
        </p:nvSpPr>
        <p:spPr>
          <a:xfrm>
            <a:off x="731520" y="3657600"/>
            <a:ext cx="7498079" cy="1280160"/>
          </a:xfrm>
          <a:prstGeom prst="rect">
            <a:avLst/>
          </a:prstGeom>
          <a:noFill/>
        </p:spPr>
        <p:txBody>
          <a:bodyPr wrap="square" lIns="0" rIns="0" tIns="0" bIns="0" anchor="t">
            <a:spAutoFit/>
          </a:bodyPr>
          <a:lstStyle/>
          <a:p>
            <a:pPr algn="l">
              <a:lnSpc>
                <a:spcPct val="120000"/>
              </a:lnSpc>
            </a:pPr>
            <a:r>
              <a:rPr sz="2200" b="0" i="0">
                <a:solidFill>
                  <a:srgbClr val="DCEFEC"/>
                </a:solidFill>
                <a:latin typeface="Calibri"/>
              </a:rPr>
              <a:t>A simple, transparent model can turn weekly reports into a warning: three weeks to prepare beds, blood and staff, before the surge, not after.</a:t>
            </a:r>
          </a:p>
        </p:txBody>
      </p:sp>
      <p:sp>
        <p:nvSpPr>
          <p:cNvPr id="7" name="QR card"/>
          <p:cNvSpPr/>
          <p:nvPr/>
        </p:nvSpPr>
        <p:spPr>
          <a:xfrm>
            <a:off x="8732520" y="1463040"/>
            <a:ext cx="2834640" cy="3429000"/>
          </a:xfrm>
          <a:prstGeom prst="roundRect">
            <a:avLst>
              <a:gd name="adj" fmla="val 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Demo QR" descr="qr.png"/>
          <p:cNvPicPr>
            <a:picLocks noChangeAspect="1"/>
          </p:cNvPicPr>
          <p:nvPr/>
        </p:nvPicPr>
        <p:blipFill>
          <a:blip r:embed="rId2"/>
          <a:stretch>
            <a:fillRect/>
          </a:stretch>
        </p:blipFill>
        <p:spPr>
          <a:xfrm>
            <a:off x="8915400" y="1600200"/>
            <a:ext cx="2468880" cy="2468880"/>
          </a:xfrm>
          <a:prstGeom prst="rect">
            <a:avLst/>
          </a:prstGeom>
        </p:spPr>
      </p:pic>
      <p:sp>
        <p:nvSpPr>
          <p:cNvPr id="9" name="TextBox 8"/>
          <p:cNvSpPr txBox="1"/>
          <p:nvPr/>
        </p:nvSpPr>
        <p:spPr>
          <a:xfrm>
            <a:off x="8732520" y="4114800"/>
            <a:ext cx="2834640" cy="685800"/>
          </a:xfrm>
          <a:prstGeom prst="rect">
            <a:avLst/>
          </a:prstGeom>
          <a:noFill/>
        </p:spPr>
        <p:txBody>
          <a:bodyPr wrap="square" lIns="0" rIns="0" tIns="0" bIns="0" anchor="t">
            <a:spAutoFit/>
          </a:bodyPr>
          <a:lstStyle/>
          <a:p>
            <a:pPr algn="ctr">
              <a:lnSpc>
                <a:spcPct val="110000"/>
              </a:lnSpc>
            </a:pPr>
            <a:r>
              <a:rPr sz="1400" b="1" i="0">
                <a:solidFill>
                  <a:srgbClr val="18211E"/>
                </a:solidFill>
                <a:latin typeface="Calibri"/>
              </a:rPr>
              <a:t>Scan to try the demo</a:t>
            </a:r>
          </a:p>
          <a:p>
            <a:pPr algn="ctr">
              <a:lnSpc>
                <a:spcPct val="110000"/>
              </a:lnSpc>
            </a:pPr>
            <a:r>
              <a:rPr sz="1100" b="0" i="0">
                <a:solidFill>
                  <a:srgbClr val="4D5853"/>
                </a:solidFill>
                <a:latin typeface="Calibri"/>
              </a:rPr>
              <a:t>monsoonwatch-nepal.streamlit.app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motif light 1"/>
          <p:cNvSpPr/>
          <p:nvPr/>
        </p:nvSpPr>
        <p:spPr>
          <a:xfrm>
            <a:off x="548640" y="502920"/>
            <a:ext cx="201168" cy="20116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otif light 2"/>
          <p:cNvSpPr/>
          <p:nvPr/>
        </p:nvSpPr>
        <p:spPr>
          <a:xfrm>
            <a:off x="822959" y="502920"/>
            <a:ext cx="201168" cy="20116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motif light 3"/>
          <p:cNvSpPr/>
          <p:nvPr/>
        </p:nvSpPr>
        <p:spPr>
          <a:xfrm>
            <a:off x="1097280" y="502920"/>
            <a:ext cx="201168" cy="20116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itle"/>
          <p:cNvSpPr txBox="1"/>
          <p:nvPr/>
        </p:nvSpPr>
        <p:spPr>
          <a:xfrm>
            <a:off x="1508760" y="347472"/>
            <a:ext cx="8961120" cy="731520"/>
          </a:xfrm>
          <a:prstGeom prst="rect">
            <a:avLst/>
          </a:prstGeom>
          <a:noFill/>
        </p:spPr>
        <p:txBody>
          <a:bodyPr wrap="square" lIns="0" rIns="0" tIns="0" bIns="0" anchor="ctr">
            <a:spAutoFit/>
          </a:bodyPr>
          <a:lstStyle/>
          <a:p>
            <a:pPr algn="l">
              <a:lnSpc>
                <a:spcPct val="110000"/>
              </a:lnSpc>
            </a:pPr>
            <a:r>
              <a:rPr sz="3000" b="1" i="0">
                <a:solidFill>
                  <a:srgbClr val="18211E"/>
                </a:solidFill>
                <a:latin typeface="Cambria"/>
              </a:rPr>
              <a:t>MonsoonWatch Nepal: a 3-week dengue warning</a:t>
            </a:r>
          </a:p>
        </p:txBody>
      </p:sp>
      <p:graphicFrame>
        <p:nvGraphicFramePr>
          <p:cNvPr id="6" name="Weekly cases chart (one-slide)"/>
          <p:cNvGraphicFramePr>
            <a:graphicFrameLocks noGrp="1"/>
          </p:cNvGraphicFramePr>
          <p:nvPr/>
        </p:nvGraphicFramePr>
        <p:xfrm>
          <a:off x="548640" y="1325880"/>
          <a:ext cx="6309360" cy="3931920"/>
        </p:xfrm>
        <a:graphic>
          <a:graphicData uri="http://schemas.openxmlformats.org/drawingml/2006/chart">
            <c:chart xmlns:c="http://schemas.openxmlformats.org/drawingml/2006/chart" r:id="rId2"/>
          </a:graphicData>
        </a:graphic>
      </p:graphicFrame>
      <p:sp>
        <p:nvSpPr>
          <p:cNvPr id="7" name="stat 1"/>
          <p:cNvSpPr/>
          <p:nvPr/>
        </p:nvSpPr>
        <p:spPr>
          <a:xfrm>
            <a:off x="7178040" y="1371600"/>
            <a:ext cx="3337560" cy="868680"/>
          </a:xfrm>
          <a:prstGeom prst="roundRect">
            <a:avLst>
              <a:gd name="adj" fmla="val 8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444752"/>
            <a:ext cx="3017520" cy="777240"/>
          </a:xfrm>
          <a:prstGeom prst="rect">
            <a:avLst/>
          </a:prstGeom>
          <a:noFill/>
        </p:spPr>
        <p:txBody>
          <a:bodyPr wrap="square" lIns="0" rIns="0" tIns="0" bIns="0" anchor="t">
            <a:spAutoFit/>
          </a:bodyPr>
          <a:lstStyle/>
          <a:p>
            <a:pPr algn="l">
              <a:lnSpc>
                <a:spcPct val="95000"/>
              </a:lnSpc>
            </a:pPr>
            <a:r>
              <a:rPr sz="2400" b="1" i="0">
                <a:solidFill>
                  <a:srgbClr val="0F7C74"/>
                </a:solidFill>
                <a:latin typeface="Cambria"/>
              </a:rPr>
              <a:t>4 of 6</a:t>
            </a:r>
          </a:p>
          <a:p>
            <a:pPr algn="l">
              <a:lnSpc>
                <a:spcPct val="95000"/>
              </a:lnSpc>
            </a:pPr>
            <a:r>
              <a:rPr sz="1300" b="0" i="0">
                <a:solidFill>
                  <a:srgbClr val="18211E"/>
                </a:solidFill>
                <a:latin typeface="Calibri"/>
              </a:rPr>
              <a:t>surges warned about</a:t>
            </a:r>
          </a:p>
        </p:txBody>
      </p:sp>
      <p:sp>
        <p:nvSpPr>
          <p:cNvPr id="9" name="stat 2"/>
          <p:cNvSpPr/>
          <p:nvPr/>
        </p:nvSpPr>
        <p:spPr>
          <a:xfrm>
            <a:off x="7178040" y="2395728"/>
            <a:ext cx="3337560" cy="868680"/>
          </a:xfrm>
          <a:prstGeom prst="roundRect">
            <a:avLst>
              <a:gd name="adj" fmla="val 8000"/>
            </a:avLst>
          </a:prstGeom>
          <a:solidFill>
            <a:srgbClr val="DCEF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0920" y="2468880"/>
            <a:ext cx="3017520" cy="777240"/>
          </a:xfrm>
          <a:prstGeom prst="rect">
            <a:avLst/>
          </a:prstGeom>
          <a:noFill/>
        </p:spPr>
        <p:txBody>
          <a:bodyPr wrap="square" lIns="0" rIns="0" tIns="0" bIns="0" anchor="t">
            <a:spAutoFit/>
          </a:bodyPr>
          <a:lstStyle/>
          <a:p>
            <a:pPr algn="l">
              <a:lnSpc>
                <a:spcPct val="95000"/>
              </a:lnSpc>
            </a:pPr>
            <a:r>
              <a:rPr sz="2400" b="1" i="0">
                <a:solidFill>
                  <a:srgbClr val="0F7C74"/>
                </a:solidFill>
                <a:latin typeface="Cambria"/>
              </a:rPr>
              <a:t>~3 weeks</a:t>
            </a:r>
          </a:p>
          <a:p>
            <a:pPr algn="l">
              <a:lnSpc>
                <a:spcPct val="95000"/>
              </a:lnSpc>
            </a:pPr>
            <a:r>
              <a:rPr sz="1300" b="0" i="0">
                <a:solidFill>
                  <a:srgbClr val="18211E"/>
                </a:solidFill>
                <a:latin typeface="Calibri"/>
              </a:rPr>
              <a:t>of warning</a:t>
            </a:r>
          </a:p>
        </p:txBody>
      </p:sp>
      <p:sp>
        <p:nvSpPr>
          <p:cNvPr id="11" name="stat 3"/>
          <p:cNvSpPr/>
          <p:nvPr/>
        </p:nvSpPr>
        <p:spPr>
          <a:xfrm>
            <a:off x="7178040" y="3419856"/>
            <a:ext cx="3337560" cy="868680"/>
          </a:xfrm>
          <a:prstGeom prst="roundRect">
            <a:avLst>
              <a:gd name="adj" fmla="val 8000"/>
            </a:avLst>
          </a:prstGeom>
          <a:solidFill>
            <a:srgbClr val="F7F9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3493008"/>
            <a:ext cx="3017520" cy="777240"/>
          </a:xfrm>
          <a:prstGeom prst="rect">
            <a:avLst/>
          </a:prstGeom>
          <a:noFill/>
        </p:spPr>
        <p:txBody>
          <a:bodyPr wrap="square" lIns="0" rIns="0" tIns="0" bIns="0" anchor="t">
            <a:spAutoFit/>
          </a:bodyPr>
          <a:lstStyle/>
          <a:p>
            <a:pPr algn="l">
              <a:lnSpc>
                <a:spcPct val="95000"/>
              </a:lnSpc>
            </a:pPr>
            <a:r>
              <a:rPr sz="2400" b="1" i="0">
                <a:solidFill>
                  <a:srgbClr val="0F7C74"/>
                </a:solidFill>
                <a:latin typeface="Cambria"/>
              </a:rPr>
              <a:t>Simple &gt; complex</a:t>
            </a:r>
          </a:p>
          <a:p>
            <a:pPr algn="l">
              <a:lnSpc>
                <a:spcPct val="95000"/>
              </a:lnSpc>
            </a:pPr>
            <a:r>
              <a:rPr sz="1300" b="0" i="0">
                <a:solidFill>
                  <a:srgbClr val="18211E"/>
                </a:solidFill>
                <a:latin typeface="Calibri"/>
              </a:rPr>
              <a:t>with limited data</a:t>
            </a:r>
          </a:p>
        </p:txBody>
      </p:sp>
      <p:sp>
        <p:nvSpPr>
          <p:cNvPr id="13" name="one-slide light Normal"/>
          <p:cNvSpPr/>
          <p:nvPr/>
        </p:nvSpPr>
        <p:spPr>
          <a:xfrm>
            <a:off x="7178040" y="4526280"/>
            <a:ext cx="384048" cy="384048"/>
          </a:xfrm>
          <a:prstGeom prst="ellipse">
            <a:avLst/>
          </a:prstGeom>
          <a:solidFill>
            <a:srgbClr val="0CA3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95159" y="4956048"/>
            <a:ext cx="777240" cy="274320"/>
          </a:xfrm>
          <a:prstGeom prst="rect">
            <a:avLst/>
          </a:prstGeom>
          <a:noFill/>
        </p:spPr>
        <p:txBody>
          <a:bodyPr wrap="square" lIns="0" rIns="0" tIns="0" bIns="0" anchor="t">
            <a:spAutoFit/>
          </a:bodyPr>
          <a:lstStyle/>
          <a:p>
            <a:pPr algn="ctr">
              <a:lnSpc>
                <a:spcPct val="110000"/>
              </a:lnSpc>
            </a:pPr>
            <a:r>
              <a:rPr sz="1100" b="0" i="0">
                <a:solidFill>
                  <a:srgbClr val="4D5853"/>
                </a:solidFill>
                <a:latin typeface="Calibri"/>
              </a:rPr>
              <a:t>Normal</a:t>
            </a:r>
          </a:p>
        </p:txBody>
      </p:sp>
      <p:sp>
        <p:nvSpPr>
          <p:cNvPr id="15" name="one-slide light Get ready"/>
          <p:cNvSpPr/>
          <p:nvPr/>
        </p:nvSpPr>
        <p:spPr>
          <a:xfrm>
            <a:off x="8321040" y="4526280"/>
            <a:ext cx="384048" cy="384048"/>
          </a:xfrm>
          <a:prstGeom prst="ellipse">
            <a:avLst/>
          </a:prstGeom>
          <a:solidFill>
            <a:srgbClr val="E8A2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0" y="4956048"/>
            <a:ext cx="777240" cy="274320"/>
          </a:xfrm>
          <a:prstGeom prst="rect">
            <a:avLst/>
          </a:prstGeom>
          <a:noFill/>
        </p:spPr>
        <p:txBody>
          <a:bodyPr wrap="square" lIns="0" rIns="0" tIns="0" bIns="0" anchor="t">
            <a:spAutoFit/>
          </a:bodyPr>
          <a:lstStyle/>
          <a:p>
            <a:pPr algn="ctr">
              <a:lnSpc>
                <a:spcPct val="110000"/>
              </a:lnSpc>
            </a:pPr>
            <a:r>
              <a:rPr sz="1100" b="0" i="0">
                <a:solidFill>
                  <a:srgbClr val="4D5853"/>
                </a:solidFill>
                <a:latin typeface="Calibri"/>
              </a:rPr>
              <a:t>Get ready</a:t>
            </a:r>
          </a:p>
        </p:txBody>
      </p:sp>
      <p:sp>
        <p:nvSpPr>
          <p:cNvPr id="17" name="one-slide light Stand by"/>
          <p:cNvSpPr/>
          <p:nvPr/>
        </p:nvSpPr>
        <p:spPr>
          <a:xfrm>
            <a:off x="9464040" y="4526280"/>
            <a:ext cx="384048" cy="384048"/>
          </a:xfrm>
          <a:prstGeom prst="ellipse">
            <a:avLst/>
          </a:prstGeom>
          <a:solidFill>
            <a:srgbClr val="D03B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81160" y="4956048"/>
            <a:ext cx="777240" cy="274320"/>
          </a:xfrm>
          <a:prstGeom prst="rect">
            <a:avLst/>
          </a:prstGeom>
          <a:noFill/>
        </p:spPr>
        <p:txBody>
          <a:bodyPr wrap="square" lIns="0" rIns="0" tIns="0" bIns="0" anchor="t">
            <a:spAutoFit/>
          </a:bodyPr>
          <a:lstStyle/>
          <a:p>
            <a:pPr algn="ctr">
              <a:lnSpc>
                <a:spcPct val="110000"/>
              </a:lnSpc>
            </a:pPr>
            <a:r>
              <a:rPr sz="1100" b="0" i="0">
                <a:solidFill>
                  <a:srgbClr val="4D5853"/>
                </a:solidFill>
                <a:latin typeface="Calibri"/>
              </a:rPr>
              <a:t>Stand by</a:t>
            </a:r>
          </a:p>
        </p:txBody>
      </p:sp>
      <p:sp>
        <p:nvSpPr>
          <p:cNvPr id="19" name="TextBox 18"/>
          <p:cNvSpPr txBox="1"/>
          <p:nvPr/>
        </p:nvSpPr>
        <p:spPr>
          <a:xfrm>
            <a:off x="548640" y="5532120"/>
            <a:ext cx="9966960" cy="822960"/>
          </a:xfrm>
          <a:prstGeom prst="rect">
            <a:avLst/>
          </a:prstGeom>
          <a:noFill/>
        </p:spPr>
        <p:txBody>
          <a:bodyPr wrap="square" lIns="0" rIns="0" tIns="0" bIns="0" anchor="t">
            <a:spAutoFit/>
          </a:bodyPr>
          <a:lstStyle/>
          <a:p>
            <a:pPr algn="l">
              <a:lnSpc>
                <a:spcPct val="115000"/>
              </a:lnSpc>
            </a:pPr>
            <a:r>
              <a:rPr sz="1400" b="0" i="0">
                <a:solidFill>
                  <a:srgbClr val="4D5853"/>
                </a:solidFill>
                <a:latin typeface="Calibri"/>
              </a:rPr>
              <a:t>Built from 482 weekly hospital reports (2016–2025). Tested fairly: it only ever learned from earlier years.</a:t>
            </a:r>
          </a:p>
        </p:txBody>
      </p:sp>
      <p:sp>
        <p:nvSpPr>
          <p:cNvPr id="20" name="QR card"/>
          <p:cNvSpPr/>
          <p:nvPr/>
        </p:nvSpPr>
        <p:spPr>
          <a:xfrm>
            <a:off x="10744200" y="5074920"/>
            <a:ext cx="1216152" cy="1508760"/>
          </a:xfrm>
          <a:prstGeom prst="roundRect">
            <a:avLst>
              <a:gd name="adj" fmla="val 6000"/>
            </a:avLst>
          </a:prstGeom>
          <a:solidFill>
            <a:srgbClr val="FFFFFF"/>
          </a:solidFill>
          <a:ln w="12700">
            <a:solidFill>
              <a:srgbClr val="DFE4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Demo QR" descr="qr.png"/>
          <p:cNvPicPr>
            <a:picLocks noChangeAspect="1"/>
          </p:cNvPicPr>
          <p:nvPr/>
        </p:nvPicPr>
        <p:blipFill>
          <a:blip r:embed="rId3"/>
          <a:stretch>
            <a:fillRect/>
          </a:stretch>
        </p:blipFill>
        <p:spPr>
          <a:xfrm>
            <a:off x="10853928" y="5138928"/>
            <a:ext cx="996696" cy="996696"/>
          </a:xfrm>
          <a:prstGeom prst="rect">
            <a:avLst/>
          </a:prstGeom>
        </p:spPr>
      </p:pic>
      <p:sp>
        <p:nvSpPr>
          <p:cNvPr id="22" name="TextBox 21"/>
          <p:cNvSpPr txBox="1"/>
          <p:nvPr/>
        </p:nvSpPr>
        <p:spPr>
          <a:xfrm>
            <a:off x="10744200" y="6172200"/>
            <a:ext cx="1216152" cy="320040"/>
          </a:xfrm>
          <a:prstGeom prst="rect">
            <a:avLst/>
          </a:prstGeom>
          <a:noFill/>
        </p:spPr>
        <p:txBody>
          <a:bodyPr wrap="square" lIns="0" rIns="0" tIns="0" bIns="0" anchor="t">
            <a:spAutoFit/>
          </a:bodyPr>
          <a:lstStyle/>
          <a:p>
            <a:pPr algn="ctr">
              <a:lnSpc>
                <a:spcPct val="110000"/>
              </a:lnSpc>
            </a:pPr>
            <a:r>
              <a:rPr sz="1100" b="1" i="0">
                <a:solidFill>
                  <a:srgbClr val="4D5853"/>
                </a:solidFill>
                <a:latin typeface="Calibri"/>
              </a:rPr>
              <a:t>Try the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